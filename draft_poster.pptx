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50" d="100"/>
          <a:sy n="50" d="100"/>
        </p:scale>
        <p:origin x="38" y="-24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10/27/2025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1007/s12325-022-02254-7" TargetMode="External"/><Relationship Id="rId2" Type="http://schemas.openxmlformats.org/officeDocument/2006/relationships/hyperlink" Target="https://doi.org/10.1007/978-3-031-82007-6_20" TargetMode="Externa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71120" y="-30683"/>
            <a:ext cx="21236445"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678381363"/>
              </p:ext>
            </p:extLst>
          </p:nvPr>
        </p:nvGraphicFramePr>
        <p:xfrm>
          <a:off x="79939" y="4419130"/>
          <a:ext cx="10609404" cy="1161216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6888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985294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Ischaemic Heart Disease presents in emergency cases as acute coronary syndromes (ACS). In ACS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2 </a:t>
                      </a:r>
                      <a:r>
                        <a:rPr lang="en-GB" sz="3200" i="0" baseline="0" dirty="0">
                          <a:solidFill>
                            <a:schemeClr val="tx1"/>
                          </a:solidFill>
                          <a:latin typeface="TH SarabunPSK" panose="020B0500040200020003" pitchFamily="34" charset="-34"/>
                          <a:cs typeface="TH SarabunPSK" panose="020B0500040200020003" pitchFamily="34" charset="-34"/>
                        </a:rPr>
                        <a:t> (door to balloon time)</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3</a:t>
                      </a:r>
                      <a:r>
                        <a:rPr lang="en-GB" sz="3200" i="0" baseline="0" dirty="0">
                          <a:latin typeface="TH SarabunPSK" panose="020B0500040200020003" pitchFamily="34" charset="-34"/>
                          <a:cs typeface="TH SarabunPSK" panose="020B0500040200020003" pitchFamily="34" charset="-34"/>
                        </a:rPr>
                        <a:t>. Linking these</a:t>
                      </a:r>
                      <a:r>
                        <a:rPr lang="en-GB" sz="3200" i="0" dirty="0">
                          <a:latin typeface="TH SarabunPSK" panose="020B0500040200020003" pitchFamily="34" charset="-34"/>
                          <a:cs typeface="TH SarabunPSK" panose="020B0500040200020003" pitchFamily="34" charset="-34"/>
                        </a:rPr>
                        <a:t> platforms to notification systems has been demonstrated to reduce the door to balloon time</a:t>
                      </a:r>
                      <a:r>
                        <a:rPr lang="en-GB" sz="3200" i="0" baseline="30000" dirty="0">
                          <a:solidFill>
                            <a:srgbClr val="0070C0"/>
                          </a:solidFill>
                          <a:latin typeface="TH SarabunPSK" panose="020B0500040200020003" pitchFamily="34" charset="-34"/>
                          <a:cs typeface="TH SarabunPSK" panose="020B0500040200020003" pitchFamily="34" charset="-34"/>
                        </a:rPr>
                        <a:t>3</a:t>
                      </a:r>
                      <a:r>
                        <a:rPr lang="en-GB" sz="3200" i="0" dirty="0">
                          <a:latin typeface="TH SarabunPSK" panose="020B0500040200020003" pitchFamily="34" charset="-34"/>
                          <a:cs typeface="TH SarabunPSK" panose="020B0500040200020003" pitchFamily="34" charset="-34"/>
                        </a:rPr>
                        <a:t>.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Our research looks at using a LLM to classify text in the Electronic Health Record (EHR) which includes the History of Presenting illness (HPI), Physical Examination, ECG report and lab results (Troponin results) to automatically make the decision and send a notification to the catheterisation lab. Essentially this is a two-class medical  classification.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Previous work has been done on classification of medical text using various Machine Learning models including gradient boosting with Text Frequency – Inverse Document Frequency (TF-IDF)</a:t>
                      </a:r>
                      <a:r>
                        <a:rPr lang="en-GB" sz="3200" i="0" baseline="30000" dirty="0">
                          <a:solidFill>
                            <a:srgbClr val="0070C0"/>
                          </a:solidFill>
                          <a:latin typeface="TH SarabunPSK" panose="020B0500040200020003" pitchFamily="34" charset="-34"/>
                          <a:cs typeface="TH SarabunPSK" panose="020B0500040200020003" pitchFamily="34" charset="-34"/>
                        </a:rPr>
                        <a:t>5</a:t>
                      </a:r>
                      <a:r>
                        <a:rPr lang="en-GB" sz="3200" i="0" dirty="0">
                          <a:latin typeface="TH SarabunPSK" panose="020B0500040200020003" pitchFamily="34" charset="-34"/>
                          <a:cs typeface="TH SarabunPSK" panose="020B0500040200020003" pitchFamily="34" charset="-34"/>
                        </a:rPr>
                        <a:t> and Transformers. Recently LLMs have been shown to perform well in medical text classification</a:t>
                      </a:r>
                      <a:r>
                        <a:rPr lang="en-GB" sz="3200" i="0" baseline="30000" dirty="0">
                          <a:solidFill>
                            <a:srgbClr val="0070C0"/>
                          </a:solidFill>
                          <a:latin typeface="TH SarabunPSK" panose="020B0500040200020003" pitchFamily="34" charset="-34"/>
                          <a:cs typeface="TH SarabunPSK" panose="020B0500040200020003" pitchFamily="34" charset="-34"/>
                        </a:rPr>
                        <a:t>6</a:t>
                      </a:r>
                      <a:r>
                        <a:rPr lang="en-GB" sz="3200" i="0" dirty="0">
                          <a:latin typeface="TH SarabunPSK" panose="020B0500040200020003" pitchFamily="34" charset="-34"/>
                          <a:cs typeface="TH SarabunPSK" panose="020B0500040200020003" pitchFamily="34" charset="-34"/>
                        </a:rPr>
                        <a:t>. We aim to improve the performance of simple transformer model (</a:t>
                      </a:r>
                      <a:r>
                        <a:rPr lang="en-GB" sz="3200" i="0" dirty="0" err="1">
                          <a:latin typeface="TH SarabunPSK" panose="020B0500040200020003" pitchFamily="34" charset="-34"/>
                          <a:cs typeface="TH SarabunPSK" panose="020B0500040200020003" pitchFamily="34" charset="-34"/>
                        </a:rPr>
                        <a:t>Bio_ClinicalBERT</a:t>
                      </a:r>
                      <a:r>
                        <a:rPr lang="en-GB" sz="3200" i="0" dirty="0">
                          <a:latin typeface="TH SarabunPSK" panose="020B0500040200020003" pitchFamily="34" charset="-34"/>
                          <a:cs typeface="TH SarabunPSK" panose="020B0500040200020003" pitchFamily="34" charset="-34"/>
                        </a:rPr>
                        <a:t>) with knowledge graph</a:t>
                      </a:r>
                      <a:r>
                        <a:rPr lang="en-GB" sz="3200" i="0" baseline="30000" dirty="0">
                          <a:solidFill>
                            <a:srgbClr val="0070C0"/>
                          </a:solidFill>
                          <a:latin typeface="TH SarabunPSK" panose="020B0500040200020003" pitchFamily="34" charset="-34"/>
                          <a:cs typeface="TH SarabunPSK" panose="020B0500040200020003" pitchFamily="34" charset="-34"/>
                        </a:rPr>
                        <a:t>7</a:t>
                      </a:r>
                      <a:r>
                        <a:rPr lang="en-GB" sz="3200" i="0" dirty="0">
                          <a:latin typeface="TH SarabunPSK" panose="020B0500040200020003" pitchFamily="34" charset="-34"/>
                          <a:cs typeface="TH SarabunPSK" panose="020B0500040200020003" pitchFamily="34" charset="-34"/>
                        </a:rPr>
                        <a:t>.</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3560417053"/>
              </p:ext>
            </p:extLst>
          </p:nvPr>
        </p:nvGraphicFramePr>
        <p:xfrm>
          <a:off x="-16742" y="16660493"/>
          <a:ext cx="10609404" cy="446913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55912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38723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a:t>
                      </a:r>
                      <a:r>
                        <a:rPr lang="en-US" sz="3200" b="0" dirty="0">
                          <a:solidFill>
                            <a:schemeClr val="tx1"/>
                          </a:solidFill>
                          <a:latin typeface="TH SarabunPSK" panose="020B0500040200020003" pitchFamily="34" charset="-34"/>
                          <a:cs typeface="TH SarabunPSK" panose="020B0500040200020003" pitchFamily="34" charset="-34"/>
                        </a:rPr>
                        <a:t>Can transformer 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0"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0"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54875809"/>
              </p:ext>
            </p:extLst>
          </p:nvPr>
        </p:nvGraphicFramePr>
        <p:xfrm>
          <a:off x="10637041" y="18533623"/>
          <a:ext cx="10534077" cy="2221230"/>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Inconclusion, we noticed that the simple model that used TF – IDF and logistic regression performed well but using a multi agent system and knowledge graph did yield improvements in recall which is important for this application.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4097946602"/>
              </p:ext>
            </p:extLst>
          </p:nvPr>
        </p:nvGraphicFramePr>
        <p:xfrm>
          <a:off x="10689344" y="20899120"/>
          <a:ext cx="10542896" cy="9256290"/>
        </p:xfrm>
        <a:graphic>
          <a:graphicData uri="http://schemas.openxmlformats.org/drawingml/2006/table">
            <a:tbl>
              <a:tblPr firstRow="1" bandRow="1"/>
              <a:tblGrid>
                <a:gridCol w="10542896">
                  <a:extLst>
                    <a:ext uri="{9D8B030D-6E8A-4147-A177-3AD203B41FA5}">
                      <a16:colId xmlns:a16="http://schemas.microsoft.com/office/drawing/2014/main" val="20000"/>
                    </a:ext>
                  </a:extLst>
                </a:gridCol>
              </a:tblGrid>
              <a:tr h="8400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6864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2400" dirty="0">
                          <a:latin typeface="TH SarabunPSK" panose="020B0500040200020003" pitchFamily="34" charset="-34"/>
                          <a:cs typeface="TH SarabunPSK" panose="020B0500040200020003" pitchFamily="34" charset="-34"/>
                        </a:rPr>
                        <a:t>1. Lindstrom, M., DeCleene, N., Dorsey, et al (2022). Global Burden of Cardiovascular Diseases and Risks Collaboration, 1990-2021. Journal of the American College of Cardiology, 80(25), 2372–2425. https://doi.org/10.1016/j.jacc.2022.11.001</a:t>
                      </a:r>
                    </a:p>
                    <a:p>
                      <a:pPr marL="182880">
                        <a:lnSpc>
                          <a:spcPct val="100000"/>
                        </a:lnSpc>
                      </a:pPr>
                      <a:r>
                        <a:rPr lang="en-GB" sz="2400" dirty="0">
                          <a:latin typeface="TH SarabunPSK" panose="020B0500040200020003" pitchFamily="34" charset="-34"/>
                          <a:cs typeface="TH SarabunPSK" panose="020B0500040200020003" pitchFamily="34" charset="-34"/>
                        </a:rPr>
                        <a:t>2.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2400" dirty="0">
                          <a:latin typeface="TH SarabunPSK" panose="020B0500040200020003" pitchFamily="34" charset="-34"/>
                          <a:cs typeface="TH SarabunPSK" panose="020B0500040200020003" pitchFamily="34" charset="-34"/>
                        </a:rPr>
                        <a:t>3. Robert Avram, William F. Fearon. (2024, 7 1). NEJM AI, 1(7). doi:10.1056/AIe2400472</a:t>
                      </a:r>
                    </a:p>
                    <a:p>
                      <a:pPr marL="182880">
                        <a:lnSpc>
                          <a:spcPct val="100000"/>
                        </a:lnSpc>
                      </a:pPr>
                      <a:r>
                        <a:rPr lang="en-GB" sz="2400" dirty="0">
                          <a:latin typeface="TH SarabunPSK" panose="020B0500040200020003" pitchFamily="34" charset="-34"/>
                          <a:cs typeface="TH SarabunPSK" panose="020B0500040200020003" pitchFamily="34" charset="-34"/>
                        </a:rPr>
                        <a:t>4.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2400" dirty="0">
                          <a:latin typeface="TH SarabunPSK" panose="020B0500040200020003" pitchFamily="34" charset="-34"/>
                          <a:cs typeface="TH SarabunPSK" panose="020B0500040200020003" pitchFamily="34" charset="-34"/>
                        </a:rPr>
                        <a:t>5. Maarten Falter, Dries </a:t>
                      </a:r>
                      <a:r>
                        <a:rPr lang="en-GB" sz="2400" dirty="0" err="1">
                          <a:latin typeface="TH SarabunPSK" panose="020B0500040200020003" pitchFamily="34" charset="-34"/>
                          <a:cs typeface="TH SarabunPSK" panose="020B0500040200020003" pitchFamily="34" charset="-34"/>
                        </a:rPr>
                        <a:t>Godderis</a:t>
                      </a:r>
                      <a:r>
                        <a:rPr lang="en-GB" sz="2400" dirty="0">
                          <a:latin typeface="TH SarabunPSK" panose="020B0500040200020003" pitchFamily="34" charset="-34"/>
                          <a:cs typeface="TH SarabunPSK" panose="020B0500040200020003" pitchFamily="34" charset="-34"/>
                        </a:rPr>
                        <a:t>, Martijn </a:t>
                      </a:r>
                      <a:r>
                        <a:rPr lang="en-GB" sz="2400" dirty="0" err="1">
                          <a:latin typeface="TH SarabunPSK" panose="020B0500040200020003" pitchFamily="34" charset="-34"/>
                          <a:cs typeface="TH SarabunPSK" panose="020B0500040200020003" pitchFamily="34" charset="-34"/>
                        </a:rPr>
                        <a:t>Scherrenberg</a:t>
                      </a:r>
                      <a:r>
                        <a:rPr lang="en-GB" sz="24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May 2024, Pages 229–234, https://doi.org/10.1093/ehjdh/ztae008</a:t>
                      </a:r>
                    </a:p>
                    <a:p>
                      <a:pPr marL="182880">
                        <a:lnSpc>
                          <a:spcPct val="100000"/>
                        </a:lnSpc>
                      </a:pPr>
                      <a:r>
                        <a:rPr lang="en-GB" sz="2400" dirty="0">
                          <a:latin typeface="TH SarabunPSK" panose="020B0500040200020003" pitchFamily="34" charset="-34"/>
                          <a:cs typeface="TH SarabunPSK" panose="020B0500040200020003" pitchFamily="34" charset="-34"/>
                        </a:rPr>
                        <a:t>6. Matos, J., </a:t>
                      </a:r>
                      <a:r>
                        <a:rPr lang="en-GB" sz="2400" dirty="0" err="1">
                          <a:latin typeface="TH SarabunPSK" panose="020B0500040200020003" pitchFamily="34" charset="-34"/>
                          <a:cs typeface="TH SarabunPSK" panose="020B0500040200020003" pitchFamily="34" charset="-34"/>
                        </a:rPr>
                        <a:t>Gallifant</a:t>
                      </a:r>
                      <a:r>
                        <a:rPr lang="en-GB" sz="2400" dirty="0">
                          <a:latin typeface="TH SarabunPSK" panose="020B0500040200020003" pitchFamily="34" charset="-34"/>
                          <a:cs typeface="TH SarabunPSK" panose="020B0500040200020003" pitchFamily="34" charset="-34"/>
                        </a:rPr>
                        <a:t>, J., Pei, J., Wong, A.I. (2025). </a:t>
                      </a:r>
                      <a:r>
                        <a:rPr lang="en-GB" sz="2400" dirty="0" err="1">
                          <a:latin typeface="TH SarabunPSK" panose="020B0500040200020003" pitchFamily="34" charset="-34"/>
                          <a:cs typeface="TH SarabunPSK" panose="020B0500040200020003" pitchFamily="34" charset="-34"/>
                        </a:rPr>
                        <a:t>EHRmonize</a:t>
                      </a:r>
                      <a:r>
                        <a:rPr lang="en-GB" sz="2400" dirty="0">
                          <a:latin typeface="TH SarabunPSK" panose="020B0500040200020003" pitchFamily="34" charset="-34"/>
                          <a:cs typeface="TH SarabunPSK" panose="020B0500040200020003" pitchFamily="34" charset="-34"/>
                        </a:rPr>
                        <a:t>: A Framework for Medical Concept Abstraction from Electronic Health Records using Large Language Models. In: Wu, S., </a:t>
                      </a:r>
                      <a:r>
                        <a:rPr lang="en-GB" sz="2400" dirty="0" err="1">
                          <a:latin typeface="TH SarabunPSK" panose="020B0500040200020003" pitchFamily="34" charset="-34"/>
                          <a:cs typeface="TH SarabunPSK" panose="020B0500040200020003" pitchFamily="34" charset="-34"/>
                        </a:rPr>
                        <a:t>Shabestari</a:t>
                      </a:r>
                      <a:r>
                        <a:rPr lang="en-GB" sz="2400" dirty="0">
                          <a:latin typeface="TH SarabunPSK" panose="020B0500040200020003" pitchFamily="34" charset="-34"/>
                          <a:cs typeface="TH SarabunPSK" panose="020B0500040200020003" pitchFamily="34" charset="-34"/>
                        </a:rPr>
                        <a:t>, B., Xing, L. (eds) Applications of Medical Artificial Intelligence. AMAI 2024. Lecture Notes in Computer Science, vol 15384. Springer, Cham. </a:t>
                      </a:r>
                      <a:r>
                        <a:rPr lang="en-GB" sz="2400" dirty="0">
                          <a:latin typeface="TH SarabunPSK" panose="020B0500040200020003" pitchFamily="34" charset="-34"/>
                          <a:cs typeface="TH SarabunPSK" panose="020B0500040200020003" pitchFamily="34" charset="-34"/>
                          <a:hlinkClick r:id="rId2"/>
                        </a:rPr>
                        <a:t>https://doi.org/10.1007/978-3-031-82007-6_20</a:t>
                      </a:r>
                      <a:endParaRPr lang="en-GB" sz="2400" dirty="0">
                        <a:latin typeface="TH SarabunPSK" panose="020B0500040200020003" pitchFamily="34" charset="-34"/>
                        <a:cs typeface="TH SarabunPSK" panose="020B0500040200020003" pitchFamily="34" charset="-34"/>
                      </a:endParaRPr>
                    </a:p>
                    <a:p>
                      <a:pPr marL="182880">
                        <a:lnSpc>
                          <a:spcPct val="100000"/>
                        </a:lnSpc>
                      </a:pPr>
                      <a:r>
                        <a:rPr lang="en-GB" sz="2400" dirty="0">
                          <a:latin typeface="TH SarabunPSK" panose="020B0500040200020003" pitchFamily="34" charset="-34"/>
                          <a:cs typeface="TH SarabunPSK" panose="020B0500040200020003" pitchFamily="34" charset="-34"/>
                        </a:rPr>
                        <a:t>7. Wang, H., Zu, Q., Lu, M., Chen, R., Yang, Z., Gao, Y., &amp; Ding, J. (2022). Application of Medical Knowledge Graphs in Cardiology and Cardiovascular Medicine: A Brief Literature Review. Advances in therapy, 39(9), 4052–4060. </a:t>
                      </a:r>
                      <a:r>
                        <a:rPr lang="en-GB" sz="2400" dirty="0">
                          <a:latin typeface="TH SarabunPSK" panose="020B0500040200020003" pitchFamily="34" charset="-34"/>
                          <a:cs typeface="TH SarabunPSK" panose="020B0500040200020003" pitchFamily="34" charset="-34"/>
                          <a:hlinkClick r:id="rId3"/>
                        </a:rPr>
                        <a:t>https://doi.org/10.1007/s12325-022-02254-7</a:t>
                      </a:r>
                      <a:endParaRPr lang="en-GB" sz="2400" dirty="0">
                        <a:latin typeface="TH SarabunPSK" panose="020B0500040200020003" pitchFamily="34" charset="-34"/>
                        <a:cs typeface="TH SarabunPSK" panose="020B0500040200020003" pitchFamily="34" charset="-34"/>
                      </a:endParaRPr>
                    </a:p>
                    <a:p>
                      <a:pPr marL="182880">
                        <a:lnSpc>
                          <a:spcPct val="100000"/>
                        </a:lnSpc>
                      </a:pPr>
                      <a:endParaRPr lang="en-GB" sz="2400" dirty="0">
                        <a:latin typeface="TH SarabunPSK" panose="020B0500040200020003" pitchFamily="34" charset="-34"/>
                        <a:cs typeface="TH SarabunPSK" panose="020B0500040200020003" pitchFamily="34" charset="-34"/>
                      </a:endParaRPr>
                    </a:p>
                    <a:p>
                      <a:pPr marL="182880">
                        <a:lnSpc>
                          <a:spcPct val="100000"/>
                        </a:lnSpc>
                      </a:pPr>
                      <a:endParaRPr lang="en-GB" sz="2400" dirty="0">
                        <a:latin typeface="TH SarabunPSK" panose="020B0500040200020003" pitchFamily="34" charset="-34"/>
                        <a:cs typeface="TH SarabunPSK" panose="020B0500040200020003" pitchFamily="34" charset="-34"/>
                      </a:endParaRPr>
                    </a:p>
                    <a:p>
                      <a:pPr marL="182880">
                        <a:lnSpc>
                          <a:spcPct val="100000"/>
                        </a:lnSpc>
                      </a:pPr>
                      <a:endParaRPr lang="en-GB" sz="24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928086831"/>
              </p:ext>
            </p:extLst>
          </p:nvPr>
        </p:nvGraphicFramePr>
        <p:xfrm>
          <a:off x="0" y="21129623"/>
          <a:ext cx="10609403" cy="9092004"/>
        </p:xfrm>
        <a:graphic>
          <a:graphicData uri="http://schemas.openxmlformats.org/drawingml/2006/table">
            <a:tbl>
              <a:tblPr firstRow="1" bandRow="1"/>
              <a:tblGrid>
                <a:gridCol w="10609403">
                  <a:extLst>
                    <a:ext uri="{9D8B030D-6E8A-4147-A177-3AD203B41FA5}">
                      <a16:colId xmlns:a16="http://schemas.microsoft.com/office/drawing/2014/main" val="20000"/>
                    </a:ext>
                  </a:extLst>
                </a:gridCol>
              </a:tblGrid>
              <a:tr h="60713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83019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and selecting patients with symptoms of acute coronary syndrome (e.g. chest pain). After data cleaning </a:t>
                      </a:r>
                      <a:r>
                        <a:rPr lang="en-US" sz="3200" b="1" dirty="0">
                          <a:latin typeface="TH SarabunPSK" panose="020B0500040200020003" pitchFamily="34" charset="-34"/>
                          <a:cs typeface="TH SarabunPSK" panose="020B0500040200020003" pitchFamily="34" charset="-34"/>
                        </a:rPr>
                        <a:t>1887</a:t>
                      </a:r>
                      <a:r>
                        <a:rPr lang="en-US" sz="3200" dirty="0">
                          <a:latin typeface="TH SarabunPSK" panose="020B0500040200020003" pitchFamily="34" charset="-34"/>
                          <a:cs typeface="TH SarabunPSK" panose="020B0500040200020003" pitchFamily="34" charset="-34"/>
                        </a:rPr>
                        <a:t> patient records were left of these </a:t>
                      </a:r>
                      <a:r>
                        <a:rPr lang="en-US" sz="3200" b="1" dirty="0">
                          <a:latin typeface="TH SarabunPSK" panose="020B0500040200020003" pitchFamily="34" charset="-34"/>
                          <a:cs typeface="TH SarabunPSK" panose="020B0500040200020003" pitchFamily="34" charset="-34"/>
                        </a:rPr>
                        <a:t>441 (23.3%) </a:t>
                      </a:r>
                      <a:r>
                        <a:rPr lang="en-US" sz="3200" dirty="0">
                          <a:latin typeface="TH SarabunPSK" panose="020B0500040200020003" pitchFamily="34" charset="-34"/>
                          <a:cs typeface="TH SarabunPSK" panose="020B0500040200020003" pitchFamily="34" charset="-34"/>
                        </a:rPr>
                        <a:t>underwent cardiac catheterization and </a:t>
                      </a:r>
                      <a:r>
                        <a:rPr lang="en-US" sz="3200" b="1" dirty="0">
                          <a:latin typeface="TH SarabunPSK" panose="020B0500040200020003" pitchFamily="34" charset="-34"/>
                          <a:cs typeface="TH SarabunPSK" panose="020B0500040200020003" pitchFamily="34" charset="-34"/>
                        </a:rPr>
                        <a:t>1446 (76.7%) </a:t>
                      </a:r>
                      <a:r>
                        <a:rPr lang="en-US" sz="3200" dirty="0">
                          <a:latin typeface="TH SarabunPSK" panose="020B0500040200020003" pitchFamily="34" charset="-34"/>
                          <a:cs typeface="TH SarabunPSK" panose="020B0500040200020003" pitchFamily="34" charset="-34"/>
                        </a:rPr>
                        <a:t>did not go for catheterization. The data was split into train and test sets with test size 20%.  We used four methods to classify patients needed for cardiac catheterization based on the EHR text:</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Term Frequency - Inverse Document Frequency (TF-IDF) with Logistic regression </a:t>
                      </a:r>
                    </a:p>
                    <a:p>
                      <a:pPr marL="697230" indent="-514350">
                        <a:lnSpc>
                          <a:spcPct val="100000"/>
                        </a:lnSpc>
                        <a:buAutoNum type="arabicPeriod"/>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a:t>
                      </a:r>
                    </a:p>
                    <a:p>
                      <a:pPr marL="697230" marR="0" lvl="0" indent="-514350" algn="l" defTabSz="2139605" rtl="0" eaLnBrk="1" fontAlgn="auto" latinLnBrk="0" hangingPunct="1">
                        <a:lnSpc>
                          <a:spcPct val="100000"/>
                        </a:lnSpc>
                        <a:spcBef>
                          <a:spcPts val="0"/>
                        </a:spcBef>
                        <a:spcAft>
                          <a:spcPts val="0"/>
                        </a:spcAft>
                        <a:buClrTx/>
                        <a:buSzTx/>
                        <a:buFontTx/>
                        <a:buAutoNum type="arabicPeriod"/>
                        <a:tabLst/>
                        <a:defRPr/>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plus Knowledge graph (with truncation of long input patient histories)</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Multi agent information retrieval Used LLM predictions of components of patient history (HPI, ECG report, lab results </a:t>
                      </a:r>
                      <a:r>
                        <a:rPr lang="en-US" sz="3200" dirty="0" err="1">
                          <a:latin typeface="TH SarabunPSK" panose="020B0500040200020003" pitchFamily="34" charset="-34"/>
                          <a:cs typeface="TH SarabunPSK" panose="020B0500040200020003" pitchFamily="34" charset="-34"/>
                        </a:rPr>
                        <a:t>e.t.c</a:t>
                      </a:r>
                      <a:r>
                        <a:rPr lang="en-US" sz="3200" dirty="0">
                          <a:latin typeface="TH SarabunPSK" panose="020B0500040200020003" pitchFamily="34" charset="-34"/>
                          <a:cs typeface="TH SarabunPSK" panose="020B0500040200020003" pitchFamily="34" charset="-34"/>
                        </a:rPr>
                        <a:t> .)  as input to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49108724"/>
              </p:ext>
            </p:extLst>
          </p:nvPr>
        </p:nvGraphicFramePr>
        <p:xfrm>
          <a:off x="10698161" y="4438445"/>
          <a:ext cx="10609404" cy="12481094"/>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120" y="2199190"/>
            <a:ext cx="2400218" cy="2239255"/>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99451" y="2059400"/>
            <a:ext cx="2508114" cy="233991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1133990102"/>
              </p:ext>
            </p:extLst>
          </p:nvPr>
        </p:nvGraphicFramePr>
        <p:xfrm>
          <a:off x="10698161" y="5275248"/>
          <a:ext cx="10411839" cy="6421804"/>
        </p:xfrm>
        <a:graphic>
          <a:graphicData uri="http://schemas.openxmlformats.org/drawingml/2006/table">
            <a:tbl>
              <a:tblPr firstRow="1" firstCol="1" lastRow="1" lastCol="1" bandRow="1" bandCol="1"/>
              <a:tblGrid>
                <a:gridCol w="2702560">
                  <a:extLst>
                    <a:ext uri="{9D8B030D-6E8A-4147-A177-3AD203B41FA5}">
                      <a16:colId xmlns:a16="http://schemas.microsoft.com/office/drawing/2014/main" val="1352617459"/>
                    </a:ext>
                  </a:extLst>
                </a:gridCol>
                <a:gridCol w="1263958">
                  <a:extLst>
                    <a:ext uri="{9D8B030D-6E8A-4147-A177-3AD203B41FA5}">
                      <a16:colId xmlns:a16="http://schemas.microsoft.com/office/drawing/2014/main" val="3245172871"/>
                    </a:ext>
                  </a:extLst>
                </a:gridCol>
                <a:gridCol w="1465189">
                  <a:extLst>
                    <a:ext uri="{9D8B030D-6E8A-4147-A177-3AD203B41FA5}">
                      <a16:colId xmlns:a16="http://schemas.microsoft.com/office/drawing/2014/main" val="1321357079"/>
                    </a:ext>
                  </a:extLst>
                </a:gridCol>
                <a:gridCol w="1245033">
                  <a:extLst>
                    <a:ext uri="{9D8B030D-6E8A-4147-A177-3AD203B41FA5}">
                      <a16:colId xmlns:a16="http://schemas.microsoft.com/office/drawing/2014/main" val="116693498"/>
                    </a:ext>
                  </a:extLst>
                </a:gridCol>
                <a:gridCol w="1245033">
                  <a:extLst>
                    <a:ext uri="{9D8B030D-6E8A-4147-A177-3AD203B41FA5}">
                      <a16:colId xmlns:a16="http://schemas.microsoft.com/office/drawing/2014/main" val="2364302200"/>
                    </a:ext>
                  </a:extLst>
                </a:gridCol>
                <a:gridCol w="1245033">
                  <a:extLst>
                    <a:ext uri="{9D8B030D-6E8A-4147-A177-3AD203B41FA5}">
                      <a16:colId xmlns:a16="http://schemas.microsoft.com/office/drawing/2014/main" val="571724730"/>
                    </a:ext>
                  </a:extLst>
                </a:gridCol>
                <a:gridCol w="1245033">
                  <a:extLst>
                    <a:ext uri="{9D8B030D-6E8A-4147-A177-3AD203B41FA5}">
                      <a16:colId xmlns:a16="http://schemas.microsoft.com/office/drawing/2014/main" val="1254078845"/>
                    </a:ext>
                  </a:extLst>
                </a:gridCol>
              </a:tblGrid>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All Patients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Myocardial Infarction patients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639366490"/>
                  </a:ext>
                </a:extLst>
              </a:tr>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1195021">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 plus Logistic Regression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796681">
                <a:tc>
                  <a:txBody>
                    <a:bodyPr/>
                    <a:lstStyle/>
                    <a:p>
                      <a:pPr marL="0" marR="0" algn="ctr">
                        <a:spcBef>
                          <a:spcPts val="0"/>
                        </a:spcBef>
                        <a:spcAft>
                          <a:spcPts val="0"/>
                        </a:spcAft>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1991702">
                <a:tc>
                  <a:txBody>
                    <a:bodyPr/>
                    <a:lstStyle/>
                    <a:p>
                      <a:pPr marL="0" marR="0" lvl="0" indent="0" algn="ctr" defTabSz="2139605" rtl="0" eaLnBrk="1" fontAlgn="auto" latinLnBrk="0" hangingPunct="1">
                        <a:lnSpc>
                          <a:spcPct val="100000"/>
                        </a:lnSpc>
                        <a:spcBef>
                          <a:spcPts val="0"/>
                        </a:spcBef>
                        <a:spcAft>
                          <a:spcPts val="0"/>
                        </a:spcAft>
                        <a:buClrTx/>
                        <a:buSzTx/>
                        <a:buFontTx/>
                        <a:buNone/>
                        <a:tabLst/>
                        <a:defRPr/>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398340">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6" name="Picture 5" descr="A graph of a number of cases&#10;&#10;AI-generated content may be incorrect.">
            <a:extLst>
              <a:ext uri="{FF2B5EF4-FFF2-40B4-BE49-F238E27FC236}">
                <a16:creationId xmlns:a16="http://schemas.microsoft.com/office/drawing/2014/main" id="{2C8C4FA9-43F5-AF9D-CFDC-FA2E1A58AB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637041" y="11775311"/>
            <a:ext cx="10534077" cy="6421804"/>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1637</TotalTime>
  <Words>1090</Words>
  <Application>Microsoft Office PowerPoint</Application>
  <PresentationFormat>Custom</PresentationFormat>
  <Paragraphs>75</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TH SarabunPSK</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49</cp:revision>
  <dcterms:created xsi:type="dcterms:W3CDTF">2020-03-30T16:23:10Z</dcterms:created>
  <dcterms:modified xsi:type="dcterms:W3CDTF">2025-10-27T08:54:35Z</dcterms:modified>
</cp:coreProperties>
</file>