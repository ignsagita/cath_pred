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4660"/>
  </p:normalViewPr>
  <p:slideViewPr>
    <p:cSldViewPr snapToGrid="0">
      <p:cViewPr>
        <p:scale>
          <a:sx n="30" d="100"/>
          <a:sy n="30" d="100"/>
        </p:scale>
        <p:origin x="2270" y="25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10/24/2025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71120" y="-30683"/>
            <a:ext cx="21236445" cy="4469128"/>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72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 using Medical Text Classification</a:t>
            </a:r>
            <a:endParaRPr lang="en-US" sz="72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48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93245397"/>
              </p:ext>
            </p:extLst>
          </p:nvPr>
        </p:nvGraphicFramePr>
        <p:xfrm>
          <a:off x="79939" y="4419130"/>
          <a:ext cx="10609404" cy="1063680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68889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985294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 Ischaemic Heart Disease presents in acute cases as acute coronary syndromes (ACS). In acute coronary syndromes there is  need to reduce the time from the patient getting through the hospital door to the time of definitive treatment with balloon catheterization</a:t>
                      </a:r>
                      <a:r>
                        <a:rPr lang="en-GB" sz="3200" i="0" baseline="30000" dirty="0">
                          <a:solidFill>
                            <a:srgbClr val="0070C0"/>
                          </a:solidFill>
                          <a:latin typeface="TH SarabunPSK" panose="020B0500040200020003" pitchFamily="34" charset="-34"/>
                          <a:cs typeface="TH SarabunPSK" panose="020B0500040200020003" pitchFamily="34" charset="-34"/>
                        </a:rPr>
                        <a:t>1</a:t>
                      </a:r>
                      <a:r>
                        <a:rPr lang="en-GB" sz="3200" i="0" dirty="0">
                          <a:latin typeface="TH SarabunPSK" panose="020B0500040200020003" pitchFamily="34" charset="-34"/>
                          <a:cs typeface="TH SarabunPSK" panose="020B0500040200020003" pitchFamily="34" charset="-34"/>
                        </a:rPr>
                        <a:t>. Artificial Intelligence systems have been implemented for automatic detection of ST elevated Myocardial Infarction (STEMI) from ECG</a:t>
                      </a:r>
                      <a:r>
                        <a:rPr lang="en-GB" sz="3200" i="0" dirty="0">
                          <a:solidFill>
                            <a:srgbClr val="0070C0"/>
                          </a:solidFill>
                          <a:latin typeface="TH SarabunPSK" panose="020B0500040200020003" pitchFamily="34" charset="-34"/>
                          <a:cs typeface="TH SarabunPSK" panose="020B0500040200020003" pitchFamily="34" charset="-34"/>
                        </a:rPr>
                        <a:t> </a:t>
                      </a:r>
                      <a:r>
                        <a:rPr lang="en-GB" sz="3200" i="0" baseline="30000" dirty="0">
                          <a:solidFill>
                            <a:srgbClr val="0070C0"/>
                          </a:solidFill>
                          <a:latin typeface="TH SarabunPSK" panose="020B0500040200020003" pitchFamily="34" charset="-34"/>
                          <a:cs typeface="TH SarabunPSK" panose="020B0500040200020003" pitchFamily="34" charset="-34"/>
                        </a:rPr>
                        <a:t>2</a:t>
                      </a:r>
                      <a:r>
                        <a:rPr lang="en-GB" sz="3200" i="0" baseline="0" dirty="0">
                          <a:latin typeface="TH SarabunPSK" panose="020B0500040200020003" pitchFamily="34" charset="-34"/>
                          <a:cs typeface="TH SarabunPSK" panose="020B0500040200020003" pitchFamily="34" charset="-34"/>
                        </a:rPr>
                        <a:t>. </a:t>
                      </a:r>
                      <a:r>
                        <a:rPr lang="en-GB" sz="3200" i="0" dirty="0">
                          <a:latin typeface="TH SarabunPSK" panose="020B0500040200020003" pitchFamily="34" charset="-34"/>
                          <a:cs typeface="TH SarabunPSK" panose="020B0500040200020003" pitchFamily="34" charset="-34"/>
                        </a:rPr>
                        <a:t>These platforms have been linked with automatic activation of the Cardiac Catheterization Lab </a:t>
                      </a:r>
                      <a:r>
                        <a:rPr lang="en-GB" sz="3200" i="0" baseline="30000" dirty="0">
                          <a:solidFill>
                            <a:srgbClr val="0070C0"/>
                          </a:solidFill>
                          <a:latin typeface="TH SarabunPSK" panose="020B0500040200020003" pitchFamily="34" charset="-34"/>
                          <a:cs typeface="TH SarabunPSK" panose="020B0500040200020003" pitchFamily="34" charset="-34"/>
                        </a:rPr>
                        <a:t>2</a:t>
                      </a:r>
                      <a:r>
                        <a:rPr lang="en-GB" sz="3200" i="0" dirty="0">
                          <a:latin typeface="TH SarabunPSK" panose="020B0500040200020003" pitchFamily="34" charset="-34"/>
                          <a:cs typeface="TH SarabunPSK" panose="020B0500040200020003" pitchFamily="34" charset="-34"/>
                        </a:rPr>
                        <a:t>. This has been demonstrated to reduce the door to balloon time.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As soon as the decision is made the Team that works in the catheterisation lab must be notified to prepare for the patient. Our research looks at using a LLM to use text in the Electronic Health Record (EHR) which includes the History of Presenting illness (HPI), Physical Examination, ECG report and lab results (Troponin results) to automatically make the decision and send a notification to the catheterisation lab. Essentially this is two class medical  classification.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highlight>
                            <a:srgbClr val="FF0000"/>
                          </a:highlight>
                          <a:latin typeface="TH SarabunPSK" panose="020B0500040200020003" pitchFamily="34" charset="-34"/>
                          <a:cs typeface="TH SarabunPSK" panose="020B0500040200020003" pitchFamily="34" charset="-34"/>
                        </a:rPr>
                        <a:t>In previous work …., citations, </a:t>
                      </a:r>
                      <a:endParaRPr sz="2800" i="0" dirty="0">
                        <a:highlight>
                          <a:srgbClr val="FF0000"/>
                        </a:highlight>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3560417053"/>
              </p:ext>
            </p:extLst>
          </p:nvPr>
        </p:nvGraphicFramePr>
        <p:xfrm>
          <a:off x="-16742" y="16660493"/>
          <a:ext cx="10609404" cy="446913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55912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38723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 </a:t>
                      </a:r>
                      <a:r>
                        <a:rPr lang="en-US" sz="3200" b="0" dirty="0">
                          <a:solidFill>
                            <a:schemeClr val="tx1"/>
                          </a:solidFill>
                          <a:latin typeface="TH SarabunPSK" panose="020B0500040200020003" pitchFamily="34" charset="-34"/>
                          <a:cs typeface="TH SarabunPSK" panose="020B0500040200020003" pitchFamily="34" charset="-34"/>
                        </a:rPr>
                        <a:t>Can transformer based models predict which patients need cardiac catheterization using text-based classification methods using information in the patient Electronic Health Record ( HPI, Physical, ECG report, lab results) for patients with possible acute coronary syndromes. </a:t>
                      </a:r>
                    </a:p>
                    <a:p>
                      <a:pPr marL="182880">
                        <a:lnSpc>
                          <a:spcPct val="100000"/>
                        </a:lnSpc>
                      </a:pPr>
                      <a:endParaRPr lang="en-US" sz="3200" b="0" dirty="0">
                        <a:solidFill>
                          <a:schemeClr val="tx1"/>
                        </a:solidFill>
                        <a:latin typeface="TH SarabunPSK" panose="020B0500040200020003" pitchFamily="34" charset="-34"/>
                        <a:cs typeface="TH SarabunPSK" panose="020B0500040200020003" pitchFamily="34" charset="-34"/>
                      </a:endParaRPr>
                    </a:p>
                    <a:p>
                      <a:pPr marL="182880">
                        <a:lnSpc>
                          <a:spcPct val="100000"/>
                        </a:lnSpc>
                      </a:pPr>
                      <a:r>
                        <a:rPr lang="en-US" sz="3200" b="0" dirty="0">
                          <a:solidFill>
                            <a:schemeClr val="tx1"/>
                          </a:solidFill>
                          <a:latin typeface="TH SarabunPSK" panose="020B0500040200020003" pitchFamily="34" charset="-34"/>
                          <a:cs typeface="TH SarabunPSK" panose="020B0500040200020003" pitchFamily="34" charset="-34"/>
                        </a:rPr>
                        <a:t>Do knowledge graphs and Multi Agent Systems improve performance of transformer classification for cardiac catheterization need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54875809"/>
              </p:ext>
            </p:extLst>
          </p:nvPr>
        </p:nvGraphicFramePr>
        <p:xfrm>
          <a:off x="10637041" y="18533623"/>
          <a:ext cx="10534077" cy="2221230"/>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28938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343287">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Inconclusion, we noticed that the simple model that used TF – IDF and logistic regression performed well but using a multi agent system and knowledge graph did yield improvements in recall which is important for this application.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1571992389"/>
              </p:ext>
            </p:extLst>
          </p:nvPr>
        </p:nvGraphicFramePr>
        <p:xfrm>
          <a:off x="10698162" y="20899120"/>
          <a:ext cx="10534077" cy="8108644"/>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8400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26864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2400" dirty="0">
                          <a:latin typeface="TH SarabunPSK" panose="020B0500040200020003" pitchFamily="34" charset="-34"/>
                          <a:cs typeface="TH SarabunPSK" panose="020B0500040200020003" pitchFamily="34" charset="-34"/>
                        </a:rPr>
                        <a:t>1.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2400" dirty="0">
                          <a:latin typeface="TH SarabunPSK" panose="020B0500040200020003" pitchFamily="34" charset="-34"/>
                          <a:cs typeface="TH SarabunPSK" panose="020B0500040200020003" pitchFamily="34" charset="-34"/>
                        </a:rPr>
                        <a:t>2. Robert Avram, William F. Fearon. (2024, 7 1). NEJM AI, 1(7). doi:10.1056/AIe2400472</a:t>
                      </a:r>
                    </a:p>
                    <a:p>
                      <a:pPr marL="182880">
                        <a:lnSpc>
                          <a:spcPct val="100000"/>
                        </a:lnSpc>
                      </a:pPr>
                      <a:r>
                        <a:rPr lang="en-GB" sz="2400" dirty="0">
                          <a:latin typeface="TH SarabunPSK" panose="020B0500040200020003" pitchFamily="34" charset="-34"/>
                          <a:cs typeface="TH SarabunPSK" panose="020B0500040200020003" pitchFamily="34" charset="-34"/>
                        </a:rPr>
                        <a:t>3.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r>
                        <a:rPr lang="en-GB" sz="2400" dirty="0">
                          <a:latin typeface="TH SarabunPSK" panose="020B0500040200020003" pitchFamily="34" charset="-34"/>
                          <a:cs typeface="TH SarabunPSK" panose="020B0500040200020003" pitchFamily="34" charset="-34"/>
                        </a:rPr>
                        <a:t>4. Maarten Falter, Dries </a:t>
                      </a:r>
                      <a:r>
                        <a:rPr lang="en-GB" sz="2400" dirty="0" err="1">
                          <a:latin typeface="TH SarabunPSK" panose="020B0500040200020003" pitchFamily="34" charset="-34"/>
                          <a:cs typeface="TH SarabunPSK" panose="020B0500040200020003" pitchFamily="34" charset="-34"/>
                        </a:rPr>
                        <a:t>Godderis</a:t>
                      </a:r>
                      <a:r>
                        <a:rPr lang="en-GB" sz="2400" dirty="0">
                          <a:latin typeface="TH SarabunPSK" panose="020B0500040200020003" pitchFamily="34" charset="-34"/>
                          <a:cs typeface="TH SarabunPSK" panose="020B0500040200020003" pitchFamily="34" charset="-34"/>
                        </a:rPr>
                        <a:t>, Martijn </a:t>
                      </a:r>
                      <a:r>
                        <a:rPr lang="en-GB" sz="2400" dirty="0" err="1">
                          <a:latin typeface="TH SarabunPSK" panose="020B0500040200020003" pitchFamily="34" charset="-34"/>
                          <a:cs typeface="TH SarabunPSK" panose="020B0500040200020003" pitchFamily="34" charset="-34"/>
                        </a:rPr>
                        <a:t>Scherrenberg</a:t>
                      </a:r>
                      <a:r>
                        <a:rPr lang="en-GB" sz="2400" dirty="0">
                          <a:latin typeface="TH SarabunPSK" panose="020B0500040200020003" pitchFamily="34" charset="-34"/>
                          <a:cs typeface="TH SarabunPSK" panose="020B0500040200020003" pitchFamily="34" charset="-34"/>
                        </a:rPr>
                        <a:t>, et al, Using natural language processing for automated classification of disease and to identify misclassified ICD codes in cardiac disease, European Heart Journal - Digital Health, Volume 5, Issue 3, May 2024, Pages 229–234, https://doi.org/10.1093/ehjdh/ztae008</a:t>
                      </a:r>
                      <a:endParaRPr lang="en-ZA" sz="24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928086831"/>
              </p:ext>
            </p:extLst>
          </p:nvPr>
        </p:nvGraphicFramePr>
        <p:xfrm>
          <a:off x="0" y="21129623"/>
          <a:ext cx="10609403" cy="9092004"/>
        </p:xfrm>
        <a:graphic>
          <a:graphicData uri="http://schemas.openxmlformats.org/drawingml/2006/table">
            <a:tbl>
              <a:tblPr firstRow="1" bandRow="1"/>
              <a:tblGrid>
                <a:gridCol w="10609403">
                  <a:extLst>
                    <a:ext uri="{9D8B030D-6E8A-4147-A177-3AD203B41FA5}">
                      <a16:colId xmlns:a16="http://schemas.microsoft.com/office/drawing/2014/main" val="20000"/>
                    </a:ext>
                  </a:extLst>
                </a:gridCol>
              </a:tblGrid>
              <a:tr h="60713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83019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4761 patients with heart conditions. Data cleaning included removing patients with possible data leak in the history and selecting patients with symptoms of acute coronary syndrome (e.g. chest pain). After data cleaning </a:t>
                      </a:r>
                      <a:r>
                        <a:rPr lang="en-US" sz="3200" b="1" dirty="0">
                          <a:latin typeface="TH SarabunPSK" panose="020B0500040200020003" pitchFamily="34" charset="-34"/>
                          <a:cs typeface="TH SarabunPSK" panose="020B0500040200020003" pitchFamily="34" charset="-34"/>
                        </a:rPr>
                        <a:t>1887</a:t>
                      </a:r>
                      <a:r>
                        <a:rPr lang="en-US" sz="3200" dirty="0">
                          <a:latin typeface="TH SarabunPSK" panose="020B0500040200020003" pitchFamily="34" charset="-34"/>
                          <a:cs typeface="TH SarabunPSK" panose="020B0500040200020003" pitchFamily="34" charset="-34"/>
                        </a:rPr>
                        <a:t> patient records were left of these </a:t>
                      </a:r>
                      <a:r>
                        <a:rPr lang="en-US" sz="3200" b="1" dirty="0">
                          <a:latin typeface="TH SarabunPSK" panose="020B0500040200020003" pitchFamily="34" charset="-34"/>
                          <a:cs typeface="TH SarabunPSK" panose="020B0500040200020003" pitchFamily="34" charset="-34"/>
                        </a:rPr>
                        <a:t>441 (23.3%) </a:t>
                      </a:r>
                      <a:r>
                        <a:rPr lang="en-US" sz="3200" dirty="0">
                          <a:latin typeface="TH SarabunPSK" panose="020B0500040200020003" pitchFamily="34" charset="-34"/>
                          <a:cs typeface="TH SarabunPSK" panose="020B0500040200020003" pitchFamily="34" charset="-34"/>
                        </a:rPr>
                        <a:t>underwent cardiac catheterization and </a:t>
                      </a:r>
                      <a:r>
                        <a:rPr lang="en-US" sz="3200" b="1" dirty="0">
                          <a:latin typeface="TH SarabunPSK" panose="020B0500040200020003" pitchFamily="34" charset="-34"/>
                          <a:cs typeface="TH SarabunPSK" panose="020B0500040200020003" pitchFamily="34" charset="-34"/>
                        </a:rPr>
                        <a:t>1446 (76.7%) </a:t>
                      </a:r>
                      <a:r>
                        <a:rPr lang="en-US" sz="3200" dirty="0">
                          <a:latin typeface="TH SarabunPSK" panose="020B0500040200020003" pitchFamily="34" charset="-34"/>
                          <a:cs typeface="TH SarabunPSK" panose="020B0500040200020003" pitchFamily="34" charset="-34"/>
                        </a:rPr>
                        <a:t>did not go for catheterization. The data was split into train and test sets with test size 20%.  We used four methods to classify patients needed for cardiac catheterization based on the EHR text:</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Term Frequency - Inverse Document Frequency (TF-IDF) with Logistic regression </a:t>
                      </a:r>
                    </a:p>
                    <a:p>
                      <a:pPr marL="697230" indent="-514350">
                        <a:lnSpc>
                          <a:spcPct val="100000"/>
                        </a:lnSpc>
                        <a:buAutoNum type="arabicPeriod"/>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a:t>
                      </a:r>
                    </a:p>
                    <a:p>
                      <a:pPr marL="697230" marR="0" lvl="0" indent="-514350" algn="l" defTabSz="2139605" rtl="0" eaLnBrk="1" fontAlgn="auto" latinLnBrk="0" hangingPunct="1">
                        <a:lnSpc>
                          <a:spcPct val="100000"/>
                        </a:lnSpc>
                        <a:spcBef>
                          <a:spcPts val="0"/>
                        </a:spcBef>
                        <a:spcAft>
                          <a:spcPts val="0"/>
                        </a:spcAft>
                        <a:buClrTx/>
                        <a:buSzTx/>
                        <a:buFontTx/>
                        <a:buAutoNum type="arabicPeriod"/>
                        <a:tabLst/>
                        <a:defRPr/>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plus Knowledge graph (with truncation of long input patient histories)</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Multi agent information retrieval Used LLM predictions of components of patient history (HPI, ECG report, lab results </a:t>
                      </a:r>
                      <a:r>
                        <a:rPr lang="en-US" sz="3200" dirty="0" err="1">
                          <a:latin typeface="TH SarabunPSK" panose="020B0500040200020003" pitchFamily="34" charset="-34"/>
                          <a:cs typeface="TH SarabunPSK" panose="020B0500040200020003" pitchFamily="34" charset="-34"/>
                        </a:rPr>
                        <a:t>e.t.c</a:t>
                      </a:r>
                      <a:r>
                        <a:rPr lang="en-US" sz="3200" dirty="0">
                          <a:latin typeface="TH SarabunPSK" panose="020B0500040200020003" pitchFamily="34" charset="-34"/>
                          <a:cs typeface="TH SarabunPSK" panose="020B0500040200020003" pitchFamily="34" charset="-34"/>
                        </a:rPr>
                        <a:t> .)  as input to </a:t>
                      </a: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149108724"/>
              </p:ext>
            </p:extLst>
          </p:nvPr>
        </p:nvGraphicFramePr>
        <p:xfrm>
          <a:off x="10698161" y="4438445"/>
          <a:ext cx="10609404" cy="12481094"/>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120" y="2199190"/>
            <a:ext cx="2400218" cy="2239255"/>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99451" y="2059400"/>
            <a:ext cx="2508114" cy="233991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1133990102"/>
              </p:ext>
            </p:extLst>
          </p:nvPr>
        </p:nvGraphicFramePr>
        <p:xfrm>
          <a:off x="10698161" y="5275248"/>
          <a:ext cx="10411839" cy="6421804"/>
        </p:xfrm>
        <a:graphic>
          <a:graphicData uri="http://schemas.openxmlformats.org/drawingml/2006/table">
            <a:tbl>
              <a:tblPr firstRow="1" firstCol="1" lastRow="1" lastCol="1" bandRow="1" bandCol="1"/>
              <a:tblGrid>
                <a:gridCol w="2702560">
                  <a:extLst>
                    <a:ext uri="{9D8B030D-6E8A-4147-A177-3AD203B41FA5}">
                      <a16:colId xmlns:a16="http://schemas.microsoft.com/office/drawing/2014/main" val="1352617459"/>
                    </a:ext>
                  </a:extLst>
                </a:gridCol>
                <a:gridCol w="1263958">
                  <a:extLst>
                    <a:ext uri="{9D8B030D-6E8A-4147-A177-3AD203B41FA5}">
                      <a16:colId xmlns:a16="http://schemas.microsoft.com/office/drawing/2014/main" val="3245172871"/>
                    </a:ext>
                  </a:extLst>
                </a:gridCol>
                <a:gridCol w="1465189">
                  <a:extLst>
                    <a:ext uri="{9D8B030D-6E8A-4147-A177-3AD203B41FA5}">
                      <a16:colId xmlns:a16="http://schemas.microsoft.com/office/drawing/2014/main" val="1321357079"/>
                    </a:ext>
                  </a:extLst>
                </a:gridCol>
                <a:gridCol w="1245033">
                  <a:extLst>
                    <a:ext uri="{9D8B030D-6E8A-4147-A177-3AD203B41FA5}">
                      <a16:colId xmlns:a16="http://schemas.microsoft.com/office/drawing/2014/main" val="116693498"/>
                    </a:ext>
                  </a:extLst>
                </a:gridCol>
                <a:gridCol w="1245033">
                  <a:extLst>
                    <a:ext uri="{9D8B030D-6E8A-4147-A177-3AD203B41FA5}">
                      <a16:colId xmlns:a16="http://schemas.microsoft.com/office/drawing/2014/main" val="2364302200"/>
                    </a:ext>
                  </a:extLst>
                </a:gridCol>
                <a:gridCol w="1245033">
                  <a:extLst>
                    <a:ext uri="{9D8B030D-6E8A-4147-A177-3AD203B41FA5}">
                      <a16:colId xmlns:a16="http://schemas.microsoft.com/office/drawing/2014/main" val="571724730"/>
                    </a:ext>
                  </a:extLst>
                </a:gridCol>
                <a:gridCol w="1245033">
                  <a:extLst>
                    <a:ext uri="{9D8B030D-6E8A-4147-A177-3AD203B41FA5}">
                      <a16:colId xmlns:a16="http://schemas.microsoft.com/office/drawing/2014/main" val="1254078845"/>
                    </a:ext>
                  </a:extLst>
                </a:gridCol>
              </a:tblGrid>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All Patients</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Myocardial Infarction patients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639366490"/>
                  </a:ext>
                </a:extLst>
              </a:tr>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1195021">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 plus Logistic Regression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796681">
                <a:tc>
                  <a:txBody>
                    <a:bodyPr/>
                    <a:lstStyle/>
                    <a:p>
                      <a:pPr marL="0" marR="0" algn="ctr">
                        <a:spcBef>
                          <a:spcPts val="0"/>
                        </a:spcBef>
                        <a:spcAft>
                          <a:spcPts val="0"/>
                        </a:spcAft>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1991702">
                <a:tc>
                  <a:txBody>
                    <a:bodyPr/>
                    <a:lstStyle/>
                    <a:p>
                      <a:pPr marL="0" marR="0" lvl="0" indent="0" algn="ctr" defTabSz="2139605" rtl="0" eaLnBrk="1" fontAlgn="auto" latinLnBrk="0" hangingPunct="1">
                        <a:lnSpc>
                          <a:spcPct val="100000"/>
                        </a:lnSpc>
                        <a:spcBef>
                          <a:spcPts val="0"/>
                        </a:spcBef>
                        <a:spcAft>
                          <a:spcPts val="0"/>
                        </a:spcAft>
                        <a:buClrTx/>
                        <a:buSzTx/>
                        <a:buFontTx/>
                        <a:buNone/>
                        <a:tabLst/>
                        <a:defRPr/>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398340">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6" name="Picture 5" descr="A graph of a number of cases&#10;&#10;AI-generated content may be incorrect.">
            <a:extLst>
              <a:ext uri="{FF2B5EF4-FFF2-40B4-BE49-F238E27FC236}">
                <a16:creationId xmlns:a16="http://schemas.microsoft.com/office/drawing/2014/main" id="{2C8C4FA9-43F5-AF9D-CFDC-FA2E1A58A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37041" y="11775311"/>
            <a:ext cx="10534077" cy="6421804"/>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TotalTime>
  <Words>857</Words>
  <Application>Microsoft Office PowerPoint</Application>
  <PresentationFormat>Custom</PresentationFormat>
  <Paragraphs>71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TH SarabunPSK</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45</cp:revision>
  <dcterms:created xsi:type="dcterms:W3CDTF">2020-03-30T16:23:10Z</dcterms:created>
  <dcterms:modified xsi:type="dcterms:W3CDTF">2025-10-24T13:28:04Z</dcterms:modified>
</cp:coreProperties>
</file>