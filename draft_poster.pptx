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1396325" cy="302672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D1537"/>
    <a:srgbClr val="660066"/>
    <a:srgbClr val="ECD9FF"/>
    <a:srgbClr val="960096"/>
    <a:srgbClr val="DEBDFF"/>
    <a:srgbClr val="CC9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4660"/>
  </p:normalViewPr>
  <p:slideViewPr>
    <p:cSldViewPr snapToGrid="0">
      <p:cViewPr>
        <p:scale>
          <a:sx n="50" d="100"/>
          <a:sy n="50" d="100"/>
        </p:scale>
        <p:origin x="38" y="26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4725" y="4953466"/>
            <a:ext cx="18186876" cy="10537496"/>
          </a:xfrm>
        </p:spPr>
        <p:txBody>
          <a:bodyPr anchor="b"/>
          <a:lstStyle>
            <a:lvl1pPr algn="ctr">
              <a:defRPr sz="14039"/>
            </a:lvl1pPr>
          </a:lstStyle>
          <a:p>
            <a:r>
              <a:rPr lang="en-US"/>
              <a:t>Click to edit Master title style</a:t>
            </a:r>
            <a:endParaRPr lang="en-US" dirty="0"/>
          </a:p>
        </p:txBody>
      </p:sp>
      <p:sp>
        <p:nvSpPr>
          <p:cNvPr id="3" name="Subtitle 2"/>
          <p:cNvSpPr>
            <a:spLocks noGrp="1"/>
          </p:cNvSpPr>
          <p:nvPr>
            <p:ph type="subTitle" idx="1"/>
          </p:nvPr>
        </p:nvSpPr>
        <p:spPr>
          <a:xfrm>
            <a:off x="2674541" y="15897328"/>
            <a:ext cx="16047244" cy="7307583"/>
          </a:xfrm>
        </p:spPr>
        <p:txBody>
          <a:bodyPr/>
          <a:lstStyle>
            <a:lvl1pPr marL="0" indent="0" algn="ctr">
              <a:buNone/>
              <a:defRPr sz="5616"/>
            </a:lvl1pPr>
            <a:lvl2pPr marL="1069802" indent="0" algn="ctr">
              <a:buNone/>
              <a:defRPr sz="4680"/>
            </a:lvl2pPr>
            <a:lvl3pPr marL="2139605" indent="0" algn="ctr">
              <a:buNone/>
              <a:defRPr sz="4212"/>
            </a:lvl3pPr>
            <a:lvl4pPr marL="3209407" indent="0" algn="ctr">
              <a:buNone/>
              <a:defRPr sz="3744"/>
            </a:lvl4pPr>
            <a:lvl5pPr marL="4279209" indent="0" algn="ctr">
              <a:buNone/>
              <a:defRPr sz="3744"/>
            </a:lvl5pPr>
            <a:lvl6pPr marL="5349011" indent="0" algn="ctr">
              <a:buNone/>
              <a:defRPr sz="3744"/>
            </a:lvl6pPr>
            <a:lvl7pPr marL="6418814" indent="0" algn="ctr">
              <a:buNone/>
              <a:defRPr sz="3744"/>
            </a:lvl7pPr>
            <a:lvl8pPr marL="7488616" indent="0" algn="ctr">
              <a:buNone/>
              <a:defRPr sz="3744"/>
            </a:lvl8pPr>
            <a:lvl9pPr marL="8558418" indent="0" algn="ctr">
              <a:buNone/>
              <a:defRPr sz="3744"/>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948504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934585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9855" y="7545809"/>
            <a:ext cx="18454330" cy="12590343"/>
          </a:xfrm>
        </p:spPr>
        <p:txBody>
          <a:bodyPr anchor="b"/>
          <a:lstStyle>
            <a:lvl1pPr>
              <a:defRPr sz="14039"/>
            </a:lvl1pPr>
          </a:lstStyle>
          <a:p>
            <a:r>
              <a:rPr lang="en-US"/>
              <a:t>Click to edit Master title style</a:t>
            </a:r>
            <a:endParaRPr lang="en-US" dirty="0"/>
          </a:p>
        </p:txBody>
      </p:sp>
      <p:sp>
        <p:nvSpPr>
          <p:cNvPr id="3" name="Text Placeholder 2"/>
          <p:cNvSpPr>
            <a:spLocks noGrp="1"/>
          </p:cNvSpPr>
          <p:nvPr>
            <p:ph type="body" idx="1"/>
          </p:nvPr>
        </p:nvSpPr>
        <p:spPr>
          <a:xfrm>
            <a:off x="1459855" y="20255262"/>
            <a:ext cx="18454330" cy="6620964"/>
          </a:xfrm>
        </p:spPr>
        <p:txBody>
          <a:bodyPr/>
          <a:lstStyle>
            <a:lvl1pPr marL="0" indent="0">
              <a:buNone/>
              <a:defRPr sz="5616">
                <a:solidFill>
                  <a:schemeClr val="tx1"/>
                </a:solidFill>
              </a:defRPr>
            </a:lvl1pPr>
            <a:lvl2pPr marL="1069802" indent="0">
              <a:buNone/>
              <a:defRPr sz="4680">
                <a:solidFill>
                  <a:schemeClr val="tx1">
                    <a:tint val="75000"/>
                  </a:schemeClr>
                </a:solidFill>
              </a:defRPr>
            </a:lvl2pPr>
            <a:lvl3pPr marL="2139605" indent="0">
              <a:buNone/>
              <a:defRPr sz="4212">
                <a:solidFill>
                  <a:schemeClr val="tx1">
                    <a:tint val="75000"/>
                  </a:schemeClr>
                </a:solidFill>
              </a:defRPr>
            </a:lvl3pPr>
            <a:lvl4pPr marL="3209407" indent="0">
              <a:buNone/>
              <a:defRPr sz="3744">
                <a:solidFill>
                  <a:schemeClr val="tx1">
                    <a:tint val="75000"/>
                  </a:schemeClr>
                </a:solidFill>
              </a:defRPr>
            </a:lvl4pPr>
            <a:lvl5pPr marL="4279209" indent="0">
              <a:buNone/>
              <a:defRPr sz="3744">
                <a:solidFill>
                  <a:schemeClr val="tx1">
                    <a:tint val="75000"/>
                  </a:schemeClr>
                </a:solidFill>
              </a:defRPr>
            </a:lvl5pPr>
            <a:lvl6pPr marL="5349011" indent="0">
              <a:buNone/>
              <a:defRPr sz="3744">
                <a:solidFill>
                  <a:schemeClr val="tx1">
                    <a:tint val="75000"/>
                  </a:schemeClr>
                </a:solidFill>
              </a:defRPr>
            </a:lvl6pPr>
            <a:lvl7pPr marL="6418814" indent="0">
              <a:buNone/>
              <a:defRPr sz="3744">
                <a:solidFill>
                  <a:schemeClr val="tx1">
                    <a:tint val="75000"/>
                  </a:schemeClr>
                </a:solidFill>
              </a:defRPr>
            </a:lvl7pPr>
            <a:lvl8pPr marL="7488616" indent="0">
              <a:buNone/>
              <a:defRPr sz="3744">
                <a:solidFill>
                  <a:schemeClr val="tx1">
                    <a:tint val="75000"/>
                  </a:schemeClr>
                </a:solidFill>
              </a:defRPr>
            </a:lvl8pPr>
            <a:lvl9pPr marL="8558418" indent="0">
              <a:buNone/>
              <a:defRPr sz="37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D56EB1-F2BE-4898-8B6B-5560BA3C98FF}"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8707835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470997"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0831890"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9D56EB1-F2BE-4898-8B6B-5560BA3C98FF}" type="datetimeFigureOut">
              <a:rPr lang="en-US" smtClean="0"/>
              <a:t>10/27/2025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30961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73784" y="1611459"/>
            <a:ext cx="18454330" cy="5850274"/>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73787" y="7419688"/>
            <a:ext cx="9051647"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4" name="Content Placeholder 3"/>
          <p:cNvSpPr>
            <a:spLocks noGrp="1"/>
          </p:cNvSpPr>
          <p:nvPr>
            <p:ph sz="half" idx="2"/>
          </p:nvPr>
        </p:nvSpPr>
        <p:spPr>
          <a:xfrm>
            <a:off x="1473787" y="11055963"/>
            <a:ext cx="9051647"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0831891" y="7419688"/>
            <a:ext cx="9096225"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6" name="Content Placeholder 5"/>
          <p:cNvSpPr>
            <a:spLocks noGrp="1"/>
          </p:cNvSpPr>
          <p:nvPr>
            <p:ph sz="quarter" idx="4"/>
          </p:nvPr>
        </p:nvSpPr>
        <p:spPr>
          <a:xfrm>
            <a:off x="10831891" y="11055963"/>
            <a:ext cx="9096225"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9D56EB1-F2BE-4898-8B6B-5560BA3C98FF}" type="datetimeFigureOut">
              <a:rPr lang="en-US" smtClean="0"/>
              <a:t>10/27/2025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897010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9D56EB1-F2BE-4898-8B6B-5560BA3C98FF}" type="datetimeFigureOut">
              <a:rPr lang="en-US" smtClean="0"/>
              <a:t>10/27/2025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5221319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D56EB1-F2BE-4898-8B6B-5560BA3C98FF}" type="datetimeFigureOut">
              <a:rPr lang="en-US" smtClean="0"/>
              <a:t>10/27/2025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651888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Content Placeholder 2"/>
          <p:cNvSpPr>
            <a:spLocks noGrp="1"/>
          </p:cNvSpPr>
          <p:nvPr>
            <p:ph idx="1"/>
          </p:nvPr>
        </p:nvSpPr>
        <p:spPr>
          <a:xfrm>
            <a:off x="9096225" y="4357934"/>
            <a:ext cx="10831890" cy="21509383"/>
          </a:xfrm>
        </p:spPr>
        <p:txBody>
          <a:bodyPr/>
          <a:lstStyle>
            <a:lvl1pPr>
              <a:defRPr sz="7488"/>
            </a:lvl1pPr>
            <a:lvl2pPr>
              <a:defRPr sz="6552"/>
            </a:lvl2pPr>
            <a:lvl3pPr>
              <a:defRPr sz="5616"/>
            </a:lvl3pPr>
            <a:lvl4pPr>
              <a:defRPr sz="4680"/>
            </a:lvl4pPr>
            <a:lvl5pPr>
              <a:defRPr sz="4680"/>
            </a:lvl5pPr>
            <a:lvl6pPr>
              <a:defRPr sz="4680"/>
            </a:lvl6pPr>
            <a:lvl7pPr>
              <a:defRPr sz="4680"/>
            </a:lvl7pPr>
            <a:lvl8pPr>
              <a:defRPr sz="4680"/>
            </a:lvl8pPr>
            <a:lvl9pPr>
              <a:defRPr sz="468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5455138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Picture Placeholder 2"/>
          <p:cNvSpPr>
            <a:spLocks noGrp="1" noChangeAspect="1"/>
          </p:cNvSpPr>
          <p:nvPr>
            <p:ph type="pic" idx="1"/>
          </p:nvPr>
        </p:nvSpPr>
        <p:spPr>
          <a:xfrm>
            <a:off x="9096225" y="4357934"/>
            <a:ext cx="10831890" cy="21509383"/>
          </a:xfrm>
        </p:spPr>
        <p:txBody>
          <a:bodyPr anchor="t"/>
          <a:lstStyle>
            <a:lvl1pPr marL="0" indent="0">
              <a:buNone/>
              <a:defRPr sz="7488"/>
            </a:lvl1pPr>
            <a:lvl2pPr marL="1069802" indent="0">
              <a:buNone/>
              <a:defRPr sz="6552"/>
            </a:lvl2pPr>
            <a:lvl3pPr marL="2139605" indent="0">
              <a:buNone/>
              <a:defRPr sz="5616"/>
            </a:lvl3pPr>
            <a:lvl4pPr marL="3209407" indent="0">
              <a:buNone/>
              <a:defRPr sz="4680"/>
            </a:lvl4pPr>
            <a:lvl5pPr marL="4279209" indent="0">
              <a:buNone/>
              <a:defRPr sz="4680"/>
            </a:lvl5pPr>
            <a:lvl6pPr marL="5349011" indent="0">
              <a:buNone/>
              <a:defRPr sz="4680"/>
            </a:lvl6pPr>
            <a:lvl7pPr marL="6418814" indent="0">
              <a:buNone/>
              <a:defRPr sz="4680"/>
            </a:lvl7pPr>
            <a:lvl8pPr marL="7488616" indent="0">
              <a:buNone/>
              <a:defRPr sz="4680"/>
            </a:lvl8pPr>
            <a:lvl9pPr marL="8558418" indent="0">
              <a:buNone/>
              <a:defRPr sz="4680"/>
            </a:lvl9pPr>
          </a:lstStyle>
          <a:p>
            <a:r>
              <a:rPr lang="en-US"/>
              <a:t>Click icon to add picture</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851187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56194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11746" y="1611452"/>
            <a:ext cx="4613583" cy="25650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70998" y="1611452"/>
            <a:ext cx="13573294" cy="25650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6029792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998" y="1611459"/>
            <a:ext cx="18454330" cy="585027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70998" y="8057261"/>
            <a:ext cx="18454330" cy="1920430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470997" y="28053287"/>
            <a:ext cx="4814173" cy="1611452"/>
          </a:xfrm>
          <a:prstGeom prst="rect">
            <a:avLst/>
          </a:prstGeom>
        </p:spPr>
        <p:txBody>
          <a:bodyPr vert="horz" lIns="91440" tIns="45720" rIns="91440" bIns="45720" rtlCol="0" anchor="ctr"/>
          <a:lstStyle>
            <a:lvl1pPr algn="l">
              <a:defRPr sz="2808">
                <a:solidFill>
                  <a:schemeClr val="tx1">
                    <a:tint val="75000"/>
                  </a:schemeClr>
                </a:solidFill>
              </a:defRPr>
            </a:lvl1pPr>
          </a:lstStyle>
          <a:p>
            <a:fld id="{C9D56EB1-F2BE-4898-8B6B-5560BA3C98FF}" type="datetimeFigureOut">
              <a:rPr lang="en-US" smtClean="0"/>
              <a:t>10/27/2025</a:t>
            </a:fld>
            <a:endParaRPr lang="en-US"/>
          </a:p>
        </p:txBody>
      </p:sp>
      <p:sp>
        <p:nvSpPr>
          <p:cNvPr id="5" name="Footer Placeholder 4"/>
          <p:cNvSpPr>
            <a:spLocks noGrp="1"/>
          </p:cNvSpPr>
          <p:nvPr>
            <p:ph type="ftr" sz="quarter" idx="3"/>
          </p:nvPr>
        </p:nvSpPr>
        <p:spPr>
          <a:xfrm>
            <a:off x="7087533" y="28053287"/>
            <a:ext cx="7221260" cy="1611452"/>
          </a:xfrm>
          <a:prstGeom prst="rect">
            <a:avLst/>
          </a:prstGeom>
        </p:spPr>
        <p:txBody>
          <a:bodyPr vert="horz" lIns="91440" tIns="45720" rIns="91440" bIns="45720" rtlCol="0" anchor="ctr"/>
          <a:lstStyle>
            <a:lvl1pPr algn="ctr">
              <a:defRPr sz="2808">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111155" y="28053287"/>
            <a:ext cx="4814173" cy="1611452"/>
          </a:xfrm>
          <a:prstGeom prst="rect">
            <a:avLst/>
          </a:prstGeom>
        </p:spPr>
        <p:txBody>
          <a:bodyPr vert="horz" lIns="91440" tIns="45720" rIns="91440" bIns="45720" rtlCol="0" anchor="ctr"/>
          <a:lstStyle>
            <a:lvl1pPr algn="r">
              <a:defRPr sz="2808">
                <a:solidFill>
                  <a:schemeClr val="tx1">
                    <a:tint val="75000"/>
                  </a:schemeClr>
                </a:solidFill>
              </a:defRPr>
            </a:lvl1pPr>
          </a:lstStyle>
          <a:p>
            <a:fld id="{6828226E-6F6F-421E-BF18-E035E0E25A9C}" type="slidenum">
              <a:rPr lang="en-US" smtClean="0"/>
              <a:t>‹#›</a:t>
            </a:fld>
            <a:endParaRPr lang="en-US"/>
          </a:p>
        </p:txBody>
      </p:sp>
    </p:spTree>
    <p:extLst>
      <p:ext uri="{BB962C8B-B14F-4D97-AF65-F5344CB8AC3E}">
        <p14:creationId xmlns:p14="http://schemas.microsoft.com/office/powerpoint/2010/main" val="6865565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9605" rtl="0" eaLnBrk="1" latinLnBrk="0" hangingPunct="1">
        <a:lnSpc>
          <a:spcPct val="90000"/>
        </a:lnSpc>
        <a:spcBef>
          <a:spcPct val="0"/>
        </a:spcBef>
        <a:buNone/>
        <a:defRPr sz="10296" kern="1200">
          <a:solidFill>
            <a:schemeClr val="tx1"/>
          </a:solidFill>
          <a:latin typeface="+mj-lt"/>
          <a:ea typeface="+mj-ea"/>
          <a:cs typeface="+mj-cs"/>
        </a:defRPr>
      </a:lvl1pPr>
    </p:titleStyle>
    <p:bodyStyle>
      <a:lvl1pPr marL="534901" indent="-534901" algn="l" defTabSz="2139605" rtl="0" eaLnBrk="1" latinLnBrk="0" hangingPunct="1">
        <a:lnSpc>
          <a:spcPct val="90000"/>
        </a:lnSpc>
        <a:spcBef>
          <a:spcPts val="2340"/>
        </a:spcBef>
        <a:buFont typeface="Arial" panose="020B0604020202020204" pitchFamily="34" charset="0"/>
        <a:buChar char="•"/>
        <a:defRPr sz="6552" kern="1200">
          <a:solidFill>
            <a:schemeClr val="tx1"/>
          </a:solidFill>
          <a:latin typeface="+mn-lt"/>
          <a:ea typeface="+mn-ea"/>
          <a:cs typeface="+mn-cs"/>
        </a:defRPr>
      </a:lvl1pPr>
      <a:lvl2pPr marL="1604703" indent="-534901" algn="l" defTabSz="2139605" rtl="0" eaLnBrk="1" latinLnBrk="0" hangingPunct="1">
        <a:lnSpc>
          <a:spcPct val="90000"/>
        </a:lnSpc>
        <a:spcBef>
          <a:spcPts val="1170"/>
        </a:spcBef>
        <a:buFont typeface="Arial" panose="020B0604020202020204" pitchFamily="34" charset="0"/>
        <a:buChar char="•"/>
        <a:defRPr sz="5616" kern="1200">
          <a:solidFill>
            <a:schemeClr val="tx1"/>
          </a:solidFill>
          <a:latin typeface="+mn-lt"/>
          <a:ea typeface="+mn-ea"/>
          <a:cs typeface="+mn-cs"/>
        </a:defRPr>
      </a:lvl2pPr>
      <a:lvl3pPr marL="2674506" indent="-534901" algn="l" defTabSz="2139605" rtl="0" eaLnBrk="1" latinLnBrk="0" hangingPunct="1">
        <a:lnSpc>
          <a:spcPct val="90000"/>
        </a:lnSpc>
        <a:spcBef>
          <a:spcPts val="1170"/>
        </a:spcBef>
        <a:buFont typeface="Arial" panose="020B0604020202020204" pitchFamily="34" charset="0"/>
        <a:buChar char="•"/>
        <a:defRPr sz="4680" kern="1200">
          <a:solidFill>
            <a:schemeClr val="tx1"/>
          </a:solidFill>
          <a:latin typeface="+mn-lt"/>
          <a:ea typeface="+mn-ea"/>
          <a:cs typeface="+mn-cs"/>
        </a:defRPr>
      </a:lvl3pPr>
      <a:lvl4pPr marL="3744308"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4pPr>
      <a:lvl5pPr marL="4814110"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5pPr>
      <a:lvl6pPr marL="5883913"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6pPr>
      <a:lvl7pPr marL="6953715"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7pPr>
      <a:lvl8pPr marL="8023517"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8pPr>
      <a:lvl9pPr marL="9093319"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9pPr>
    </p:bodyStyle>
    <p:otherStyle>
      <a:defPPr>
        <a:defRPr lang="en-US"/>
      </a:defPPr>
      <a:lvl1pPr marL="0" algn="l" defTabSz="2139605" rtl="0" eaLnBrk="1" latinLnBrk="0" hangingPunct="1">
        <a:defRPr sz="4212" kern="1200">
          <a:solidFill>
            <a:schemeClr val="tx1"/>
          </a:solidFill>
          <a:latin typeface="+mn-lt"/>
          <a:ea typeface="+mn-ea"/>
          <a:cs typeface="+mn-cs"/>
        </a:defRPr>
      </a:lvl1pPr>
      <a:lvl2pPr marL="1069802" algn="l" defTabSz="2139605" rtl="0" eaLnBrk="1" latinLnBrk="0" hangingPunct="1">
        <a:defRPr sz="4212" kern="1200">
          <a:solidFill>
            <a:schemeClr val="tx1"/>
          </a:solidFill>
          <a:latin typeface="+mn-lt"/>
          <a:ea typeface="+mn-ea"/>
          <a:cs typeface="+mn-cs"/>
        </a:defRPr>
      </a:lvl2pPr>
      <a:lvl3pPr marL="2139605" algn="l" defTabSz="2139605" rtl="0" eaLnBrk="1" latinLnBrk="0" hangingPunct="1">
        <a:defRPr sz="4212" kern="1200">
          <a:solidFill>
            <a:schemeClr val="tx1"/>
          </a:solidFill>
          <a:latin typeface="+mn-lt"/>
          <a:ea typeface="+mn-ea"/>
          <a:cs typeface="+mn-cs"/>
        </a:defRPr>
      </a:lvl3pPr>
      <a:lvl4pPr marL="3209407" algn="l" defTabSz="2139605" rtl="0" eaLnBrk="1" latinLnBrk="0" hangingPunct="1">
        <a:defRPr sz="4212" kern="1200">
          <a:solidFill>
            <a:schemeClr val="tx1"/>
          </a:solidFill>
          <a:latin typeface="+mn-lt"/>
          <a:ea typeface="+mn-ea"/>
          <a:cs typeface="+mn-cs"/>
        </a:defRPr>
      </a:lvl4pPr>
      <a:lvl5pPr marL="4279209" algn="l" defTabSz="2139605" rtl="0" eaLnBrk="1" latinLnBrk="0" hangingPunct="1">
        <a:defRPr sz="4212" kern="1200">
          <a:solidFill>
            <a:schemeClr val="tx1"/>
          </a:solidFill>
          <a:latin typeface="+mn-lt"/>
          <a:ea typeface="+mn-ea"/>
          <a:cs typeface="+mn-cs"/>
        </a:defRPr>
      </a:lvl5pPr>
      <a:lvl6pPr marL="5349011" algn="l" defTabSz="2139605" rtl="0" eaLnBrk="1" latinLnBrk="0" hangingPunct="1">
        <a:defRPr sz="4212" kern="1200">
          <a:solidFill>
            <a:schemeClr val="tx1"/>
          </a:solidFill>
          <a:latin typeface="+mn-lt"/>
          <a:ea typeface="+mn-ea"/>
          <a:cs typeface="+mn-cs"/>
        </a:defRPr>
      </a:lvl6pPr>
      <a:lvl7pPr marL="6418814" algn="l" defTabSz="2139605" rtl="0" eaLnBrk="1" latinLnBrk="0" hangingPunct="1">
        <a:defRPr sz="4212" kern="1200">
          <a:solidFill>
            <a:schemeClr val="tx1"/>
          </a:solidFill>
          <a:latin typeface="+mn-lt"/>
          <a:ea typeface="+mn-ea"/>
          <a:cs typeface="+mn-cs"/>
        </a:defRPr>
      </a:lvl7pPr>
      <a:lvl8pPr marL="7488616" algn="l" defTabSz="2139605" rtl="0" eaLnBrk="1" latinLnBrk="0" hangingPunct="1">
        <a:defRPr sz="4212" kern="1200">
          <a:solidFill>
            <a:schemeClr val="tx1"/>
          </a:solidFill>
          <a:latin typeface="+mn-lt"/>
          <a:ea typeface="+mn-ea"/>
          <a:cs typeface="+mn-cs"/>
        </a:defRPr>
      </a:lvl8pPr>
      <a:lvl9pPr marL="8558418" algn="l" defTabSz="2139605" rtl="0" eaLnBrk="1" latinLnBrk="0" hangingPunct="1">
        <a:defRPr sz="421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doi.org/10.1007/s12325-022-02254-7" TargetMode="External"/><Relationship Id="rId2" Type="http://schemas.openxmlformats.org/officeDocument/2006/relationships/hyperlink" Target="https://doi.org/10.1007/978-3-031-82007-6_20" TargetMode="Externa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Text Box 138">
            <a:extLst>
              <a:ext uri="{FF2B5EF4-FFF2-40B4-BE49-F238E27FC236}">
                <a16:creationId xmlns:a16="http://schemas.microsoft.com/office/drawing/2014/main" id="{7C812A51-576A-4CCE-A872-EF3428AF424E}"/>
              </a:ext>
            </a:extLst>
          </p:cNvPr>
          <p:cNvSpPr txBox="1">
            <a:spLocks noChangeArrowheads="1"/>
          </p:cNvSpPr>
          <p:nvPr/>
        </p:nvSpPr>
        <p:spPr bwMode="auto">
          <a:xfrm>
            <a:off x="71120" y="-30683"/>
            <a:ext cx="21236445" cy="4469128"/>
          </a:xfrm>
          <a:prstGeom prst="rect">
            <a:avLst/>
          </a:prstGeom>
          <a:solidFill>
            <a:srgbClr val="0070C0"/>
          </a:solidFill>
          <a:ln w="9525">
            <a:noFill/>
            <a:miter lim="800000"/>
            <a:headEnd/>
            <a:tailEnd/>
          </a:ln>
        </p:spPr>
        <p:txBody>
          <a:bodyPr wrap="square" lIns="183090" tIns="91545" rIns="183090" bIns="91545">
            <a:spAutoFit/>
          </a:bodyPr>
          <a:lstStyle/>
          <a:p>
            <a:pPr lvl="0" algn="ctr" defTabSz="4171950" fontAlgn="base">
              <a:lnSpc>
                <a:spcPct val="110000"/>
              </a:lnSpc>
              <a:spcBef>
                <a:spcPct val="0"/>
              </a:spcBef>
              <a:spcAft>
                <a:spcPct val="0"/>
              </a:spcAft>
              <a:defRPr/>
            </a:pPr>
            <a:r>
              <a:rPr lang="en-GB" altLang="en-US" sz="7200" b="1" kern="0" dirty="0">
                <a:solidFill>
                  <a:schemeClr val="bg1"/>
                </a:solidFill>
                <a:latin typeface="TH SarabunPSK" panose="020B0500040200020003" pitchFamily="34" charset="-34"/>
                <a:cs typeface="TH SarabunPSK" panose="020B0500040200020003" pitchFamily="34" charset="-34"/>
              </a:rPr>
              <a:t>Towards Automated Cardiac Catheterization Laboratory Activation using Medical Text Classification</a:t>
            </a:r>
            <a:endParaRPr lang="en-US" sz="72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US" sz="48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Ignasius Dwi </a:t>
            </a:r>
            <a:r>
              <a:rPr lang="en-US" sz="4800" b="1" kern="100" dirty="0" err="1">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Sagita</a:t>
            </a:r>
            <a:r>
              <a:rPr lang="en-US" sz="48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 Christy, Ngwaru Munodawafa</a:t>
            </a:r>
            <a:endParaRPr lang="en-US" sz="36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GB" sz="36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Stockholm University, The Department of Computer and Systems Sciences, DSV </a:t>
            </a:r>
          </a:p>
          <a:p>
            <a:pPr algn="ctr"/>
            <a:r>
              <a:rPr lang="en-US" sz="36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Email: igch8514@student.su.se, munodawafan@gmail.com</a:t>
            </a:r>
            <a:endParaRPr lang="en-US" sz="36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p:txBody>
      </p:sp>
      <p:graphicFrame>
        <p:nvGraphicFramePr>
          <p:cNvPr id="21" name="object 22">
            <a:extLst>
              <a:ext uri="{FF2B5EF4-FFF2-40B4-BE49-F238E27FC236}">
                <a16:creationId xmlns:a16="http://schemas.microsoft.com/office/drawing/2014/main" id="{78B4DAF4-6F7D-42EC-8D7C-677EA438013D}"/>
              </a:ext>
            </a:extLst>
          </p:cNvPr>
          <p:cNvGraphicFramePr>
            <a:graphicFrameLocks noGrp="1"/>
          </p:cNvGraphicFramePr>
          <p:nvPr>
            <p:extLst>
              <p:ext uri="{D42A27DB-BD31-4B8C-83A1-F6EECF244321}">
                <p14:modId xmlns:p14="http://schemas.microsoft.com/office/powerpoint/2010/main" val="3983248078"/>
              </p:ext>
            </p:extLst>
          </p:nvPr>
        </p:nvGraphicFramePr>
        <p:xfrm>
          <a:off x="79939" y="4419130"/>
          <a:ext cx="10609404" cy="12099840"/>
        </p:xfrm>
        <a:graphic>
          <a:graphicData uri="http://schemas.openxmlformats.org/drawingml/2006/table">
            <a:tbl>
              <a:tblPr firstRow="1" bandRow="1"/>
              <a:tblGrid>
                <a:gridCol w="10609404">
                  <a:extLst>
                    <a:ext uri="{9D8B030D-6E8A-4147-A177-3AD203B41FA5}">
                      <a16:colId xmlns:a16="http://schemas.microsoft.com/office/drawing/2014/main" val="20000"/>
                    </a:ext>
                  </a:extLst>
                </a:gridCol>
              </a:tblGrid>
              <a:tr h="68889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i="0" spc="-5" dirty="0">
                          <a:solidFill>
                            <a:srgbClr val="FFFFFF"/>
                          </a:solidFill>
                          <a:latin typeface="TH SarabunPSK" panose="020B0500040200020003" pitchFamily="34" charset="-34"/>
                          <a:cs typeface="TH SarabunPSK" panose="020B0500040200020003" pitchFamily="34" charset="-34"/>
                        </a:rPr>
                        <a:t>Introduction</a:t>
                      </a:r>
                      <a:endParaRPr sz="3600" i="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9852949">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Ischaemic Heart Disease is the leading cause of death world-wide responsible for 13% of all deaths</a:t>
                      </a:r>
                      <a:r>
                        <a:rPr lang="en-GB" sz="3200" i="0" baseline="30000" dirty="0">
                          <a:solidFill>
                            <a:srgbClr val="0070C0"/>
                          </a:solidFill>
                          <a:latin typeface="TH SarabunPSK" panose="020B0500040200020003" pitchFamily="34" charset="-34"/>
                          <a:cs typeface="TH SarabunPSK" panose="020B0500040200020003" pitchFamily="34" charset="-34"/>
                        </a:rPr>
                        <a:t>1</a:t>
                      </a:r>
                      <a:r>
                        <a:rPr lang="en-GB" sz="3200" i="0" dirty="0">
                          <a:latin typeface="TH SarabunPSK" panose="020B0500040200020003" pitchFamily="34" charset="-34"/>
                          <a:cs typeface="TH SarabunPSK" panose="020B0500040200020003" pitchFamily="34" charset="-34"/>
                        </a:rPr>
                        <a:t>. Ischaemic Heart Disease presents in emergency cases as acute coronary syndromes (ACS). In ACS there is  need to reduce the time from the patient getting through the hospital door to the time of definitive treatment with balloon catheterization</a:t>
                      </a:r>
                      <a:r>
                        <a:rPr lang="en-GB" sz="3200" i="0" baseline="30000" dirty="0">
                          <a:solidFill>
                            <a:srgbClr val="0070C0"/>
                          </a:solidFill>
                          <a:latin typeface="TH SarabunPSK" panose="020B0500040200020003" pitchFamily="34" charset="-34"/>
                          <a:cs typeface="TH SarabunPSK" panose="020B0500040200020003" pitchFamily="34" charset="-34"/>
                        </a:rPr>
                        <a:t>2 </a:t>
                      </a:r>
                      <a:r>
                        <a:rPr lang="en-GB" sz="3200" i="0" baseline="0" dirty="0">
                          <a:solidFill>
                            <a:schemeClr val="tx1"/>
                          </a:solidFill>
                          <a:latin typeface="TH SarabunPSK" panose="020B0500040200020003" pitchFamily="34" charset="-34"/>
                          <a:cs typeface="TH SarabunPSK" panose="020B0500040200020003" pitchFamily="34" charset="-34"/>
                        </a:rPr>
                        <a:t> (door to balloon time)</a:t>
                      </a:r>
                      <a:r>
                        <a:rPr lang="en-GB" sz="3200" i="0" dirty="0">
                          <a:latin typeface="TH SarabunPSK" panose="020B0500040200020003" pitchFamily="34" charset="-34"/>
                          <a:cs typeface="TH SarabunPSK" panose="020B0500040200020003" pitchFamily="34" charset="-34"/>
                        </a:rPr>
                        <a:t>. Artificial Intelligence systems have been implemented for automatic detection of ST elevated Myocardial Infarction (STEMI) from ECG only</a:t>
                      </a:r>
                      <a:r>
                        <a:rPr lang="en-GB" sz="3200" i="0" dirty="0">
                          <a:solidFill>
                            <a:srgbClr val="0070C0"/>
                          </a:solidFill>
                          <a:latin typeface="TH SarabunPSK" panose="020B0500040200020003" pitchFamily="34" charset="-34"/>
                          <a:cs typeface="TH SarabunPSK" panose="020B0500040200020003" pitchFamily="34" charset="-34"/>
                        </a:rPr>
                        <a:t> </a:t>
                      </a:r>
                      <a:r>
                        <a:rPr lang="en-GB" sz="3200" i="0" baseline="30000" dirty="0">
                          <a:solidFill>
                            <a:srgbClr val="0070C0"/>
                          </a:solidFill>
                          <a:latin typeface="TH SarabunPSK" panose="020B0500040200020003" pitchFamily="34" charset="-34"/>
                          <a:cs typeface="TH SarabunPSK" panose="020B0500040200020003" pitchFamily="34" charset="-34"/>
                        </a:rPr>
                        <a:t>3</a:t>
                      </a:r>
                      <a:r>
                        <a:rPr lang="en-GB" sz="3200" i="0" baseline="0" dirty="0">
                          <a:latin typeface="TH SarabunPSK" panose="020B0500040200020003" pitchFamily="34" charset="-34"/>
                          <a:cs typeface="TH SarabunPSK" panose="020B0500040200020003" pitchFamily="34" charset="-34"/>
                        </a:rPr>
                        <a:t>. Linking these</a:t>
                      </a:r>
                      <a:r>
                        <a:rPr lang="en-GB" sz="3200" i="0" dirty="0">
                          <a:latin typeface="TH SarabunPSK" panose="020B0500040200020003" pitchFamily="34" charset="-34"/>
                          <a:cs typeface="TH SarabunPSK" panose="020B0500040200020003" pitchFamily="34" charset="-34"/>
                        </a:rPr>
                        <a:t> platforms to notification systems has been demonstrated to reduce the door to balloon time</a:t>
                      </a:r>
                      <a:r>
                        <a:rPr lang="en-GB" sz="3200" i="0" baseline="30000" dirty="0">
                          <a:solidFill>
                            <a:srgbClr val="0070C0"/>
                          </a:solidFill>
                          <a:latin typeface="TH SarabunPSK" panose="020B0500040200020003" pitchFamily="34" charset="-34"/>
                          <a:cs typeface="TH SarabunPSK" panose="020B0500040200020003" pitchFamily="34" charset="-34"/>
                        </a:rPr>
                        <a:t>3</a:t>
                      </a:r>
                      <a:r>
                        <a:rPr lang="en-GB" sz="3200" i="0" dirty="0">
                          <a:latin typeface="TH SarabunPSK" panose="020B0500040200020003" pitchFamily="34" charset="-34"/>
                          <a:cs typeface="TH SarabunPSK" panose="020B0500040200020003" pitchFamily="34" charset="-34"/>
                        </a:rPr>
                        <a:t>. </a:t>
                      </a:r>
                    </a:p>
                    <a:p>
                      <a:pPr marL="182880">
                        <a:lnSpc>
                          <a:spcPct val="100000"/>
                        </a:lnSpc>
                      </a:pPr>
                      <a:endParaRPr lang="en-GB" sz="320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However, to decide to send the patient for emergency cardiac catheterisation it is important to consider the patient’s presenting history, ECG results and the results of lab investigations. Our research looks at using a LLM to classify text in the Electronic Health Record (EHR) which includes the History of Presenting illness (HPI), Physical Examination, ECG report and lab results (Troponin results) to automatically make the decision and send a notification to the catheterisation lab. Essentially this is a two-class medical  classification. </a:t>
                      </a:r>
                    </a:p>
                    <a:p>
                      <a:pPr marL="182880">
                        <a:lnSpc>
                          <a:spcPct val="100000"/>
                        </a:lnSpc>
                      </a:pPr>
                      <a:endParaRPr lang="en-GB" sz="320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Previous work has been done on classification of medical text using various Machine Learning models including gradient boosting with Text Frequency – Inverse Document Frequency (TF-IDF)</a:t>
                      </a:r>
                      <a:r>
                        <a:rPr lang="en-GB" sz="3200" i="0" baseline="30000" dirty="0">
                          <a:solidFill>
                            <a:srgbClr val="0070C0"/>
                          </a:solidFill>
                          <a:latin typeface="TH SarabunPSK" panose="020B0500040200020003" pitchFamily="34" charset="-34"/>
                          <a:cs typeface="TH SarabunPSK" panose="020B0500040200020003" pitchFamily="34" charset="-34"/>
                        </a:rPr>
                        <a:t>5</a:t>
                      </a:r>
                      <a:r>
                        <a:rPr lang="en-GB" sz="3200" i="0" dirty="0">
                          <a:latin typeface="TH SarabunPSK" panose="020B0500040200020003" pitchFamily="34" charset="-34"/>
                          <a:cs typeface="TH SarabunPSK" panose="020B0500040200020003" pitchFamily="34" charset="-34"/>
                        </a:rPr>
                        <a:t> and Transformers. Recently LLMs have been shown to perform well in medical text classification</a:t>
                      </a:r>
                      <a:r>
                        <a:rPr lang="en-GB" sz="3200" i="0" baseline="30000" dirty="0">
                          <a:solidFill>
                            <a:srgbClr val="0070C0"/>
                          </a:solidFill>
                          <a:latin typeface="TH SarabunPSK" panose="020B0500040200020003" pitchFamily="34" charset="-34"/>
                          <a:cs typeface="TH SarabunPSK" panose="020B0500040200020003" pitchFamily="34" charset="-34"/>
                        </a:rPr>
                        <a:t>6</a:t>
                      </a:r>
                      <a:r>
                        <a:rPr lang="en-GB" sz="3200" i="0" dirty="0">
                          <a:latin typeface="TH SarabunPSK" panose="020B0500040200020003" pitchFamily="34" charset="-34"/>
                          <a:cs typeface="TH SarabunPSK" panose="020B0500040200020003" pitchFamily="34" charset="-34"/>
                        </a:rPr>
                        <a:t>. We aim to improve the performance of simple transformer model (</a:t>
                      </a:r>
                      <a:r>
                        <a:rPr lang="en-GB" sz="3200" i="0" dirty="0" err="1">
                          <a:latin typeface="TH SarabunPSK" panose="020B0500040200020003" pitchFamily="34" charset="-34"/>
                          <a:cs typeface="TH SarabunPSK" panose="020B0500040200020003" pitchFamily="34" charset="-34"/>
                        </a:rPr>
                        <a:t>Bio_ClinicalBERT</a:t>
                      </a:r>
                      <a:r>
                        <a:rPr lang="en-GB" sz="3200" i="0" dirty="0">
                          <a:latin typeface="TH SarabunPSK" panose="020B0500040200020003" pitchFamily="34" charset="-34"/>
                          <a:cs typeface="TH SarabunPSK" panose="020B0500040200020003" pitchFamily="34" charset="-34"/>
                        </a:rPr>
                        <a:t>) with knowledge graph</a:t>
                      </a:r>
                      <a:r>
                        <a:rPr lang="en-GB" sz="3200" i="0" baseline="30000" dirty="0">
                          <a:solidFill>
                            <a:srgbClr val="0070C0"/>
                          </a:solidFill>
                          <a:latin typeface="TH SarabunPSK" panose="020B0500040200020003" pitchFamily="34" charset="-34"/>
                          <a:cs typeface="TH SarabunPSK" panose="020B0500040200020003" pitchFamily="34" charset="-34"/>
                        </a:rPr>
                        <a:t>7</a:t>
                      </a:r>
                      <a:r>
                        <a:rPr lang="en-GB" sz="3200" i="0" dirty="0">
                          <a:latin typeface="TH SarabunPSK" panose="020B0500040200020003" pitchFamily="34" charset="-34"/>
                          <a:cs typeface="TH SarabunPSK" panose="020B0500040200020003" pitchFamily="34" charset="-34"/>
                        </a:rPr>
                        <a:t>. We implement LLM as feature extraction tool.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3" name="object 22">
            <a:extLst>
              <a:ext uri="{FF2B5EF4-FFF2-40B4-BE49-F238E27FC236}">
                <a16:creationId xmlns:a16="http://schemas.microsoft.com/office/drawing/2014/main" id="{7136799F-0CF4-4683-AFB9-118533FAA225}"/>
              </a:ext>
            </a:extLst>
          </p:cNvPr>
          <p:cNvGraphicFramePr>
            <a:graphicFrameLocks noGrp="1"/>
          </p:cNvGraphicFramePr>
          <p:nvPr>
            <p:extLst>
              <p:ext uri="{D42A27DB-BD31-4B8C-83A1-F6EECF244321}">
                <p14:modId xmlns:p14="http://schemas.microsoft.com/office/powerpoint/2010/main" val="1214155265"/>
              </p:ext>
            </p:extLst>
          </p:nvPr>
        </p:nvGraphicFramePr>
        <p:xfrm>
          <a:off x="-16742" y="16660493"/>
          <a:ext cx="10609404" cy="4469130"/>
        </p:xfrm>
        <a:graphic>
          <a:graphicData uri="http://schemas.openxmlformats.org/drawingml/2006/table">
            <a:tbl>
              <a:tblPr firstRow="1" bandRow="1"/>
              <a:tblGrid>
                <a:gridCol w="10609404">
                  <a:extLst>
                    <a:ext uri="{9D8B030D-6E8A-4147-A177-3AD203B41FA5}">
                      <a16:colId xmlns:a16="http://schemas.microsoft.com/office/drawing/2014/main" val="20000"/>
                    </a:ext>
                  </a:extLst>
                </a:gridCol>
              </a:tblGrid>
              <a:tr h="559122">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Research Problem</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387230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82880">
                        <a:lnSpc>
                          <a:spcPct val="100000"/>
                        </a:lnSpc>
                      </a:pPr>
                      <a:r>
                        <a:rPr lang="en-US" sz="3200" b="1" dirty="0">
                          <a:solidFill>
                            <a:schemeClr val="tx1"/>
                          </a:solidFill>
                          <a:latin typeface="TH SarabunPSK" panose="020B0500040200020003" pitchFamily="34" charset="-34"/>
                          <a:cs typeface="TH SarabunPSK" panose="020B0500040200020003" pitchFamily="34" charset="-34"/>
                        </a:rPr>
                        <a:t> </a:t>
                      </a:r>
                      <a:r>
                        <a:rPr lang="en-US" sz="3200" b="0" dirty="0">
                          <a:solidFill>
                            <a:schemeClr val="tx1"/>
                          </a:solidFill>
                          <a:latin typeface="TH SarabunPSK" panose="020B0500040200020003" pitchFamily="34" charset="-34"/>
                          <a:cs typeface="TH SarabunPSK" panose="020B0500040200020003" pitchFamily="34" charset="-34"/>
                        </a:rPr>
                        <a:t>Can transformer-based models predict which patients need cardiac catheterization using text-based classification methods using information in the patient Electronic Health Record ( HPI, Physical, ECG report, lab results) for patients with possible acute coronary syndromes. </a:t>
                      </a:r>
                    </a:p>
                    <a:p>
                      <a:pPr marL="182880">
                        <a:lnSpc>
                          <a:spcPct val="100000"/>
                        </a:lnSpc>
                      </a:pPr>
                      <a:endParaRPr lang="en-US" sz="3200" b="0" dirty="0">
                        <a:solidFill>
                          <a:schemeClr val="tx1"/>
                        </a:solidFill>
                        <a:latin typeface="TH SarabunPSK" panose="020B0500040200020003" pitchFamily="34" charset="-34"/>
                        <a:cs typeface="TH SarabunPSK" panose="020B0500040200020003" pitchFamily="34" charset="-34"/>
                      </a:endParaRPr>
                    </a:p>
                    <a:p>
                      <a:pPr marL="182880">
                        <a:lnSpc>
                          <a:spcPct val="100000"/>
                        </a:lnSpc>
                      </a:pPr>
                      <a:r>
                        <a:rPr lang="en-US" sz="3200" b="0" dirty="0">
                          <a:solidFill>
                            <a:schemeClr val="tx1"/>
                          </a:solidFill>
                          <a:latin typeface="TH SarabunPSK" panose="020B0500040200020003" pitchFamily="34" charset="-34"/>
                          <a:cs typeface="TH SarabunPSK" panose="020B0500040200020003" pitchFamily="34" charset="-34"/>
                        </a:rPr>
                        <a:t>Do knowledge graphs and Multi Agent Systems improve performance of transformer classification for cardiac catheterization need for patients with possible acute coronary syndromes.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4" name="object 22">
            <a:extLst>
              <a:ext uri="{FF2B5EF4-FFF2-40B4-BE49-F238E27FC236}">
                <a16:creationId xmlns:a16="http://schemas.microsoft.com/office/drawing/2014/main" id="{5125ACF8-0E94-463F-AECB-A92CEA1ED41D}"/>
              </a:ext>
            </a:extLst>
          </p:cNvPr>
          <p:cNvGraphicFramePr>
            <a:graphicFrameLocks noGrp="1"/>
          </p:cNvGraphicFramePr>
          <p:nvPr>
            <p:extLst>
              <p:ext uri="{D42A27DB-BD31-4B8C-83A1-F6EECF244321}">
                <p14:modId xmlns:p14="http://schemas.microsoft.com/office/powerpoint/2010/main" val="54875809"/>
              </p:ext>
            </p:extLst>
          </p:nvPr>
        </p:nvGraphicFramePr>
        <p:xfrm>
          <a:off x="10637041" y="18533623"/>
          <a:ext cx="10534077" cy="2221230"/>
        </p:xfrm>
        <a:graphic>
          <a:graphicData uri="http://schemas.openxmlformats.org/drawingml/2006/table">
            <a:tbl>
              <a:tblPr firstRow="1" bandRow="1"/>
              <a:tblGrid>
                <a:gridCol w="10534077">
                  <a:extLst>
                    <a:ext uri="{9D8B030D-6E8A-4147-A177-3AD203B41FA5}">
                      <a16:colId xmlns:a16="http://schemas.microsoft.com/office/drawing/2014/main" val="20000"/>
                    </a:ext>
                  </a:extLst>
                </a:gridCol>
              </a:tblGrid>
              <a:tr h="289389">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Conclusion</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343287">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lang="en-US"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Inconclusion, we noticed that the simple model that used TF – IDF and logistic regression performed well but using a multi agent system and knowledge graph did yield improvements in recall which is important for this application.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6" name="object 22">
            <a:extLst>
              <a:ext uri="{FF2B5EF4-FFF2-40B4-BE49-F238E27FC236}">
                <a16:creationId xmlns:a16="http://schemas.microsoft.com/office/drawing/2014/main" id="{86F200E1-37DE-47E5-BF91-50734829D6B4}"/>
              </a:ext>
            </a:extLst>
          </p:cNvPr>
          <p:cNvGraphicFramePr>
            <a:graphicFrameLocks noGrp="1"/>
          </p:cNvGraphicFramePr>
          <p:nvPr>
            <p:extLst>
              <p:ext uri="{D42A27DB-BD31-4B8C-83A1-F6EECF244321}">
                <p14:modId xmlns:p14="http://schemas.microsoft.com/office/powerpoint/2010/main" val="643947391"/>
              </p:ext>
            </p:extLst>
          </p:nvPr>
        </p:nvGraphicFramePr>
        <p:xfrm>
          <a:off x="10689344" y="20899120"/>
          <a:ext cx="10542896" cy="9256290"/>
        </p:xfrm>
        <a:graphic>
          <a:graphicData uri="http://schemas.openxmlformats.org/drawingml/2006/table">
            <a:tbl>
              <a:tblPr firstRow="1" bandRow="1"/>
              <a:tblGrid>
                <a:gridCol w="10542896">
                  <a:extLst>
                    <a:ext uri="{9D8B030D-6E8A-4147-A177-3AD203B41FA5}">
                      <a16:colId xmlns:a16="http://schemas.microsoft.com/office/drawing/2014/main" val="20000"/>
                    </a:ext>
                  </a:extLst>
                </a:gridCol>
              </a:tblGrid>
              <a:tr h="84000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References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7268644">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82880">
                        <a:lnSpc>
                          <a:spcPct val="100000"/>
                        </a:lnSpc>
                      </a:pPr>
                      <a:r>
                        <a:rPr lang="en-GB" sz="2400" dirty="0">
                          <a:latin typeface="TH SarabunPSK" panose="020B0500040200020003" pitchFamily="34" charset="-34"/>
                          <a:cs typeface="TH SarabunPSK" panose="020B0500040200020003" pitchFamily="34" charset="-34"/>
                        </a:rPr>
                        <a:t>1. Lindstrom, M., DeCleene, N., Dorsey, et al (2022). Global Burden of Cardiovascular Diseases and Risks Collaboration, 1990-2021. Journal of the American College of Cardiology, 80(25), 2372–2425. https://doi.org/10.1016/j.jacc.2022.11.001</a:t>
                      </a:r>
                    </a:p>
                    <a:p>
                      <a:pPr marL="182880">
                        <a:lnSpc>
                          <a:spcPct val="100000"/>
                        </a:lnSpc>
                      </a:pPr>
                      <a:r>
                        <a:rPr lang="en-GB" sz="2400" dirty="0">
                          <a:latin typeface="TH SarabunPSK" panose="020B0500040200020003" pitchFamily="34" charset="-34"/>
                          <a:cs typeface="TH SarabunPSK" panose="020B0500040200020003" pitchFamily="34" charset="-34"/>
                        </a:rPr>
                        <a:t>2. Cannon CP, G. C. (2000). Relationship of Symptom-Onset-to-Balloon Time and Door-to-Balloon Time With Mortality in Patients Undergoing Angioplasty for Acute Myocardial Infarction. JAMA, 22(283), 2941–2947. Retrieved from doi:10.1001/jama.283.22.2941</a:t>
                      </a:r>
                    </a:p>
                    <a:p>
                      <a:pPr marL="182880">
                        <a:lnSpc>
                          <a:spcPct val="100000"/>
                        </a:lnSpc>
                      </a:pPr>
                      <a:r>
                        <a:rPr lang="en-GB" sz="2400" dirty="0">
                          <a:latin typeface="TH SarabunPSK" panose="020B0500040200020003" pitchFamily="34" charset="-34"/>
                          <a:cs typeface="TH SarabunPSK" panose="020B0500040200020003" pitchFamily="34" charset="-34"/>
                        </a:rPr>
                        <a:t>3. Robert Avram, William F. Fearon. (2024, 7 1). NEJM AI, 1(7). doi:10.1056/AIe2400472</a:t>
                      </a:r>
                    </a:p>
                    <a:p>
                      <a:pPr marL="182880">
                        <a:lnSpc>
                          <a:spcPct val="100000"/>
                        </a:lnSpc>
                      </a:pPr>
                      <a:r>
                        <a:rPr lang="en-GB" sz="2400" dirty="0">
                          <a:latin typeface="TH SarabunPSK" panose="020B0500040200020003" pitchFamily="34" charset="-34"/>
                          <a:cs typeface="TH SarabunPSK" panose="020B0500040200020003" pitchFamily="34" charset="-34"/>
                        </a:rPr>
                        <a:t>4. Sunil V. Rao, M. L. (2025). 2025 ACC/AHA/ACEP/NAEMSP/SCAI Guideline for the Management of Patients With Acute Coronary Syndromes: A Report of the American College of Cardiology/American Heart Association Joint Committee on Clinical Practice Guidelines. Circulation, 151(13).</a:t>
                      </a:r>
                    </a:p>
                    <a:p>
                      <a:pPr marL="182880">
                        <a:lnSpc>
                          <a:spcPct val="100000"/>
                        </a:lnSpc>
                      </a:pPr>
                      <a:r>
                        <a:rPr lang="en-GB" sz="2400" dirty="0">
                          <a:latin typeface="TH SarabunPSK" panose="020B0500040200020003" pitchFamily="34" charset="-34"/>
                          <a:cs typeface="TH SarabunPSK" panose="020B0500040200020003" pitchFamily="34" charset="-34"/>
                        </a:rPr>
                        <a:t>5. Maarten Falter, Dries </a:t>
                      </a:r>
                      <a:r>
                        <a:rPr lang="en-GB" sz="2400" dirty="0" err="1">
                          <a:latin typeface="TH SarabunPSK" panose="020B0500040200020003" pitchFamily="34" charset="-34"/>
                          <a:cs typeface="TH SarabunPSK" panose="020B0500040200020003" pitchFamily="34" charset="-34"/>
                        </a:rPr>
                        <a:t>Godderis</a:t>
                      </a:r>
                      <a:r>
                        <a:rPr lang="en-GB" sz="2400" dirty="0">
                          <a:latin typeface="TH SarabunPSK" panose="020B0500040200020003" pitchFamily="34" charset="-34"/>
                          <a:cs typeface="TH SarabunPSK" panose="020B0500040200020003" pitchFamily="34" charset="-34"/>
                        </a:rPr>
                        <a:t>, Martijn </a:t>
                      </a:r>
                      <a:r>
                        <a:rPr lang="en-GB" sz="2400" dirty="0" err="1">
                          <a:latin typeface="TH SarabunPSK" panose="020B0500040200020003" pitchFamily="34" charset="-34"/>
                          <a:cs typeface="TH SarabunPSK" panose="020B0500040200020003" pitchFamily="34" charset="-34"/>
                        </a:rPr>
                        <a:t>Scherrenberg</a:t>
                      </a:r>
                      <a:r>
                        <a:rPr lang="en-GB" sz="2400" dirty="0">
                          <a:latin typeface="TH SarabunPSK" panose="020B0500040200020003" pitchFamily="34" charset="-34"/>
                          <a:cs typeface="TH SarabunPSK" panose="020B0500040200020003" pitchFamily="34" charset="-34"/>
                        </a:rPr>
                        <a:t>, et al, Using natural language processing for automated classification of disease and to identify misclassified ICD codes in cardiac disease, European Heart Journal - Digital Health, Volume 5, Issue 3, 2024, Pages 229–234, https://doi.org/10.1093/ehjdh/ztae008</a:t>
                      </a:r>
                    </a:p>
                    <a:p>
                      <a:pPr marL="182880">
                        <a:lnSpc>
                          <a:spcPct val="100000"/>
                        </a:lnSpc>
                      </a:pPr>
                      <a:r>
                        <a:rPr lang="en-GB" sz="2400" dirty="0">
                          <a:latin typeface="TH SarabunPSK" panose="020B0500040200020003" pitchFamily="34" charset="-34"/>
                          <a:cs typeface="TH SarabunPSK" panose="020B0500040200020003" pitchFamily="34" charset="-34"/>
                        </a:rPr>
                        <a:t>6. Matos, J., </a:t>
                      </a:r>
                      <a:r>
                        <a:rPr lang="en-GB" sz="2400" dirty="0" err="1">
                          <a:latin typeface="TH SarabunPSK" panose="020B0500040200020003" pitchFamily="34" charset="-34"/>
                          <a:cs typeface="TH SarabunPSK" panose="020B0500040200020003" pitchFamily="34" charset="-34"/>
                        </a:rPr>
                        <a:t>Gallifant</a:t>
                      </a:r>
                      <a:r>
                        <a:rPr lang="en-GB" sz="2400" dirty="0">
                          <a:latin typeface="TH SarabunPSK" panose="020B0500040200020003" pitchFamily="34" charset="-34"/>
                          <a:cs typeface="TH SarabunPSK" panose="020B0500040200020003" pitchFamily="34" charset="-34"/>
                        </a:rPr>
                        <a:t>, J., Pei, J., Wong, A.I. (2025). </a:t>
                      </a:r>
                      <a:r>
                        <a:rPr lang="en-GB" sz="2400" dirty="0" err="1">
                          <a:latin typeface="TH SarabunPSK" panose="020B0500040200020003" pitchFamily="34" charset="-34"/>
                          <a:cs typeface="TH SarabunPSK" panose="020B0500040200020003" pitchFamily="34" charset="-34"/>
                        </a:rPr>
                        <a:t>EHRmonize</a:t>
                      </a:r>
                      <a:r>
                        <a:rPr lang="en-GB" sz="2400" dirty="0">
                          <a:latin typeface="TH SarabunPSK" panose="020B0500040200020003" pitchFamily="34" charset="-34"/>
                          <a:cs typeface="TH SarabunPSK" panose="020B0500040200020003" pitchFamily="34" charset="-34"/>
                        </a:rPr>
                        <a:t>: A Framework for Medical Concept Abstraction from Electronic Health Records using Large Language Models. In: Wu, S., </a:t>
                      </a:r>
                      <a:r>
                        <a:rPr lang="en-GB" sz="2400" dirty="0" err="1">
                          <a:latin typeface="TH SarabunPSK" panose="020B0500040200020003" pitchFamily="34" charset="-34"/>
                          <a:cs typeface="TH SarabunPSK" panose="020B0500040200020003" pitchFamily="34" charset="-34"/>
                        </a:rPr>
                        <a:t>Shabestari</a:t>
                      </a:r>
                      <a:r>
                        <a:rPr lang="en-GB" sz="2400" dirty="0">
                          <a:latin typeface="TH SarabunPSK" panose="020B0500040200020003" pitchFamily="34" charset="-34"/>
                          <a:cs typeface="TH SarabunPSK" panose="020B0500040200020003" pitchFamily="34" charset="-34"/>
                        </a:rPr>
                        <a:t>, B., Xing, L. (eds) Applications of Medical Artificial Intelligence. AMAI 2024. Lecture Notes in Computer Science, vol 15384. Springer, Cham. </a:t>
                      </a:r>
                      <a:r>
                        <a:rPr lang="en-GB" sz="2400" dirty="0">
                          <a:latin typeface="TH SarabunPSK" panose="020B0500040200020003" pitchFamily="34" charset="-34"/>
                          <a:cs typeface="TH SarabunPSK" panose="020B0500040200020003" pitchFamily="34" charset="-34"/>
                          <a:hlinkClick r:id="rId2"/>
                        </a:rPr>
                        <a:t>https://doi.org/10.1007/978-3-031-82007-6_20</a:t>
                      </a:r>
                      <a:endParaRPr lang="en-GB" sz="2400" dirty="0">
                        <a:latin typeface="TH SarabunPSK" panose="020B0500040200020003" pitchFamily="34" charset="-34"/>
                        <a:cs typeface="TH SarabunPSK" panose="020B0500040200020003" pitchFamily="34" charset="-34"/>
                      </a:endParaRPr>
                    </a:p>
                    <a:p>
                      <a:pPr marL="182880">
                        <a:lnSpc>
                          <a:spcPct val="100000"/>
                        </a:lnSpc>
                      </a:pPr>
                      <a:r>
                        <a:rPr lang="en-GB" sz="2400" dirty="0">
                          <a:latin typeface="TH SarabunPSK" panose="020B0500040200020003" pitchFamily="34" charset="-34"/>
                          <a:cs typeface="TH SarabunPSK" panose="020B0500040200020003" pitchFamily="34" charset="-34"/>
                        </a:rPr>
                        <a:t>7. Wang, H., Zu, Q., Lu, M., Chen, R., Yang, Z., Gao, Y., &amp; Ding, J. (2022). Application of Medical Knowledge Graphs in Cardiology and Cardiovascular Medicine: A Brief Literature Review. Advances in therapy, 39(9), 4052–4060. </a:t>
                      </a:r>
                      <a:r>
                        <a:rPr lang="en-GB" sz="2400" dirty="0">
                          <a:latin typeface="TH SarabunPSK" panose="020B0500040200020003" pitchFamily="34" charset="-34"/>
                          <a:cs typeface="TH SarabunPSK" panose="020B0500040200020003" pitchFamily="34" charset="-34"/>
                          <a:hlinkClick r:id="rId3"/>
                        </a:rPr>
                        <a:t>https://doi.org/10.1007/s12325-022-02254-7</a:t>
                      </a:r>
                      <a:endParaRPr lang="en-GB" sz="2400" dirty="0">
                        <a:latin typeface="TH SarabunPSK" panose="020B0500040200020003" pitchFamily="34" charset="-34"/>
                        <a:cs typeface="TH SarabunPSK" panose="020B0500040200020003" pitchFamily="34" charset="-34"/>
                      </a:endParaRPr>
                    </a:p>
                    <a:p>
                      <a:pPr marL="182880">
                        <a:lnSpc>
                          <a:spcPct val="100000"/>
                        </a:lnSpc>
                      </a:pPr>
                      <a:endParaRPr lang="en-GB" sz="2400" dirty="0">
                        <a:latin typeface="TH SarabunPSK" panose="020B0500040200020003" pitchFamily="34" charset="-34"/>
                        <a:cs typeface="TH SarabunPSK" panose="020B0500040200020003" pitchFamily="34" charset="-34"/>
                      </a:endParaRPr>
                    </a:p>
                    <a:p>
                      <a:pPr marL="182880">
                        <a:lnSpc>
                          <a:spcPct val="100000"/>
                        </a:lnSpc>
                      </a:pPr>
                      <a:endParaRPr lang="en-GB" sz="2400" dirty="0">
                        <a:latin typeface="TH SarabunPSK" panose="020B0500040200020003" pitchFamily="34" charset="-34"/>
                        <a:cs typeface="TH SarabunPSK" panose="020B0500040200020003" pitchFamily="34" charset="-34"/>
                      </a:endParaRPr>
                    </a:p>
                    <a:p>
                      <a:pPr marL="182880">
                        <a:lnSpc>
                          <a:spcPct val="100000"/>
                        </a:lnSpc>
                      </a:pPr>
                      <a:endParaRPr lang="en-GB" sz="24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7" name="object 22">
            <a:extLst>
              <a:ext uri="{FF2B5EF4-FFF2-40B4-BE49-F238E27FC236}">
                <a16:creationId xmlns:a16="http://schemas.microsoft.com/office/drawing/2014/main" id="{B0C8BFD8-10C8-4356-976A-75AD1B4E604C}"/>
              </a:ext>
            </a:extLst>
          </p:cNvPr>
          <p:cNvGraphicFramePr>
            <a:graphicFrameLocks noGrp="1"/>
          </p:cNvGraphicFramePr>
          <p:nvPr>
            <p:extLst>
              <p:ext uri="{D42A27DB-BD31-4B8C-83A1-F6EECF244321}">
                <p14:modId xmlns:p14="http://schemas.microsoft.com/office/powerpoint/2010/main" val="3928086831"/>
              </p:ext>
            </p:extLst>
          </p:nvPr>
        </p:nvGraphicFramePr>
        <p:xfrm>
          <a:off x="0" y="21129623"/>
          <a:ext cx="10609403" cy="9092004"/>
        </p:xfrm>
        <a:graphic>
          <a:graphicData uri="http://schemas.openxmlformats.org/drawingml/2006/table">
            <a:tbl>
              <a:tblPr firstRow="1" bandRow="1"/>
              <a:tblGrid>
                <a:gridCol w="10609403">
                  <a:extLst>
                    <a:ext uri="{9D8B030D-6E8A-4147-A177-3AD203B41FA5}">
                      <a16:colId xmlns:a16="http://schemas.microsoft.com/office/drawing/2014/main" val="20000"/>
                    </a:ext>
                  </a:extLst>
                </a:gridCol>
              </a:tblGrid>
              <a:tr h="607134">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Methods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8301988">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The approach was to be able to classify patients on whether they needed  cardiac catheterization or not based on information in the Electronic Health Record (EHR). We used the mimic-iv-ext-cardiac-disease-1.0.0 dataset from the MIT computational physiology lab. The dataset consisted of 4761 patients with heart conditions. Data cleaning included removing patients with possible data leak in the history and selecting patients with symptoms of acute coronary syndrome (e.g. chest pain). After data cleaning </a:t>
                      </a:r>
                      <a:r>
                        <a:rPr lang="en-US" sz="3200" b="1" dirty="0">
                          <a:latin typeface="TH SarabunPSK" panose="020B0500040200020003" pitchFamily="34" charset="-34"/>
                          <a:cs typeface="TH SarabunPSK" panose="020B0500040200020003" pitchFamily="34" charset="-34"/>
                        </a:rPr>
                        <a:t>1887</a:t>
                      </a:r>
                      <a:r>
                        <a:rPr lang="en-US" sz="3200" dirty="0">
                          <a:latin typeface="TH SarabunPSK" panose="020B0500040200020003" pitchFamily="34" charset="-34"/>
                          <a:cs typeface="TH SarabunPSK" panose="020B0500040200020003" pitchFamily="34" charset="-34"/>
                        </a:rPr>
                        <a:t> patient records were left of these </a:t>
                      </a:r>
                      <a:r>
                        <a:rPr lang="en-US" sz="3200" b="1" dirty="0">
                          <a:latin typeface="TH SarabunPSK" panose="020B0500040200020003" pitchFamily="34" charset="-34"/>
                          <a:cs typeface="TH SarabunPSK" panose="020B0500040200020003" pitchFamily="34" charset="-34"/>
                        </a:rPr>
                        <a:t>441 (23.3%) </a:t>
                      </a:r>
                      <a:r>
                        <a:rPr lang="en-US" sz="3200" dirty="0">
                          <a:latin typeface="TH SarabunPSK" panose="020B0500040200020003" pitchFamily="34" charset="-34"/>
                          <a:cs typeface="TH SarabunPSK" panose="020B0500040200020003" pitchFamily="34" charset="-34"/>
                        </a:rPr>
                        <a:t>underwent cardiac catheterization and </a:t>
                      </a:r>
                      <a:r>
                        <a:rPr lang="en-US" sz="3200" b="1" dirty="0">
                          <a:latin typeface="TH SarabunPSK" panose="020B0500040200020003" pitchFamily="34" charset="-34"/>
                          <a:cs typeface="TH SarabunPSK" panose="020B0500040200020003" pitchFamily="34" charset="-34"/>
                        </a:rPr>
                        <a:t>1446 (76.7%) </a:t>
                      </a:r>
                      <a:r>
                        <a:rPr lang="en-US" sz="3200" dirty="0">
                          <a:latin typeface="TH SarabunPSK" panose="020B0500040200020003" pitchFamily="34" charset="-34"/>
                          <a:cs typeface="TH SarabunPSK" panose="020B0500040200020003" pitchFamily="34" charset="-34"/>
                        </a:rPr>
                        <a:t>did not go for catheterization. The data was split into train and test sets with test size 20%.  We used four methods to classify patients needed for cardiac catheterization based on the EHR text:</a:t>
                      </a:r>
                    </a:p>
                    <a:p>
                      <a:pPr marL="697230" indent="-514350">
                        <a:lnSpc>
                          <a:spcPct val="100000"/>
                        </a:lnSpc>
                        <a:buAutoNum type="arabicPeriod"/>
                      </a:pPr>
                      <a:r>
                        <a:rPr lang="en-US" sz="3200" dirty="0">
                          <a:latin typeface="TH SarabunPSK" panose="020B0500040200020003" pitchFamily="34" charset="-34"/>
                          <a:cs typeface="TH SarabunPSK" panose="020B0500040200020003" pitchFamily="34" charset="-34"/>
                        </a:rPr>
                        <a:t>Term Frequency - Inverse Document Frequency (TF-IDF) with Logistic regression </a:t>
                      </a:r>
                    </a:p>
                    <a:p>
                      <a:pPr marL="697230" indent="-514350">
                        <a:lnSpc>
                          <a:spcPct val="100000"/>
                        </a:lnSpc>
                        <a:buAutoNum type="arabicPeriod"/>
                      </a:pP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a:t>
                      </a:r>
                    </a:p>
                    <a:p>
                      <a:pPr marL="697230" marR="0" lvl="0" indent="-514350" algn="l" defTabSz="2139605" rtl="0" eaLnBrk="1" fontAlgn="auto" latinLnBrk="0" hangingPunct="1">
                        <a:lnSpc>
                          <a:spcPct val="100000"/>
                        </a:lnSpc>
                        <a:spcBef>
                          <a:spcPts val="0"/>
                        </a:spcBef>
                        <a:spcAft>
                          <a:spcPts val="0"/>
                        </a:spcAft>
                        <a:buClrTx/>
                        <a:buSzTx/>
                        <a:buFontTx/>
                        <a:buAutoNum type="arabicPeriod"/>
                        <a:tabLst/>
                        <a:defRPr/>
                      </a:pP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 plus Knowledge graph (with truncation of long input patient histories)</a:t>
                      </a:r>
                    </a:p>
                    <a:p>
                      <a:pPr marL="697230" indent="-514350">
                        <a:lnSpc>
                          <a:spcPct val="100000"/>
                        </a:lnSpc>
                        <a:buAutoNum type="arabicPeriod"/>
                      </a:pPr>
                      <a:r>
                        <a:rPr lang="en-US" sz="3200" dirty="0">
                          <a:latin typeface="TH SarabunPSK" panose="020B0500040200020003" pitchFamily="34" charset="-34"/>
                          <a:cs typeface="TH SarabunPSK" panose="020B0500040200020003" pitchFamily="34" charset="-34"/>
                        </a:rPr>
                        <a:t>Multi agent information retrieval Used LLM predictions of components of patient history (HPI, ECG report, lab results </a:t>
                      </a:r>
                      <a:r>
                        <a:rPr lang="en-US" sz="3200" dirty="0" err="1">
                          <a:latin typeface="TH SarabunPSK" panose="020B0500040200020003" pitchFamily="34" charset="-34"/>
                          <a:cs typeface="TH SarabunPSK" panose="020B0500040200020003" pitchFamily="34" charset="-34"/>
                        </a:rPr>
                        <a:t>e.t.c</a:t>
                      </a:r>
                      <a:r>
                        <a:rPr lang="en-US" sz="3200" dirty="0">
                          <a:latin typeface="TH SarabunPSK" panose="020B0500040200020003" pitchFamily="34" charset="-34"/>
                          <a:cs typeface="TH SarabunPSK" panose="020B0500040200020003" pitchFamily="34" charset="-34"/>
                        </a:rPr>
                        <a:t> .)  as input to </a:t>
                      </a: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9" name="object 22">
            <a:extLst>
              <a:ext uri="{FF2B5EF4-FFF2-40B4-BE49-F238E27FC236}">
                <a16:creationId xmlns:a16="http://schemas.microsoft.com/office/drawing/2014/main" id="{E86DA0F1-04DD-4126-B0C8-03FCBC73D56C}"/>
              </a:ext>
            </a:extLst>
          </p:cNvPr>
          <p:cNvGraphicFramePr>
            <a:graphicFrameLocks noGrp="1"/>
          </p:cNvGraphicFramePr>
          <p:nvPr>
            <p:extLst>
              <p:ext uri="{D42A27DB-BD31-4B8C-83A1-F6EECF244321}">
                <p14:modId xmlns:p14="http://schemas.microsoft.com/office/powerpoint/2010/main" val="149108724"/>
              </p:ext>
            </p:extLst>
          </p:nvPr>
        </p:nvGraphicFramePr>
        <p:xfrm>
          <a:off x="10698161" y="4438445"/>
          <a:ext cx="10609404" cy="12481094"/>
        </p:xfrm>
        <a:graphic>
          <a:graphicData uri="http://schemas.openxmlformats.org/drawingml/2006/table">
            <a:tbl>
              <a:tblPr firstRow="1" bandRow="1"/>
              <a:tblGrid>
                <a:gridCol w="10609404">
                  <a:extLst>
                    <a:ext uri="{9D8B030D-6E8A-4147-A177-3AD203B41FA5}">
                      <a16:colId xmlns:a16="http://schemas.microsoft.com/office/drawing/2014/main" val="20000"/>
                    </a:ext>
                  </a:extLst>
                </a:gridCol>
              </a:tblGrid>
              <a:tr h="769393">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Results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1711701">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 </a:t>
                      </a: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sp>
        <p:nvSpPr>
          <p:cNvPr id="33" name="Rectangle 6">
            <a:extLst>
              <a:ext uri="{FF2B5EF4-FFF2-40B4-BE49-F238E27FC236}">
                <a16:creationId xmlns:a16="http://schemas.microsoft.com/office/drawing/2014/main" id="{97ACF6EC-2C2E-4BD6-A637-5DDF515E96F5}"/>
              </a:ext>
            </a:extLst>
          </p:cNvPr>
          <p:cNvSpPr>
            <a:spLocks noChangeArrowheads="1"/>
          </p:cNvSpPr>
          <p:nvPr/>
        </p:nvSpPr>
        <p:spPr bwMode="auto">
          <a:xfrm>
            <a:off x="2743200" y="24654460"/>
            <a:ext cx="25285440"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pic>
        <p:nvPicPr>
          <p:cNvPr id="1028" name="Picture 4" descr="Department of Computer and Systems Sciences (DSV) at Stockholm University |  LinkedIn">
            <a:extLst>
              <a:ext uri="{FF2B5EF4-FFF2-40B4-BE49-F238E27FC236}">
                <a16:creationId xmlns:a16="http://schemas.microsoft.com/office/drawing/2014/main" id="{5E85B75B-53C4-0FAE-06ED-D185A6B49C8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120" y="2199190"/>
            <a:ext cx="2400218" cy="2239255"/>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Department of Computer and Systems Sciences (DSV) at Stockholm University |  LinkedIn">
            <a:extLst>
              <a:ext uri="{FF2B5EF4-FFF2-40B4-BE49-F238E27FC236}">
                <a16:creationId xmlns:a16="http://schemas.microsoft.com/office/drawing/2014/main" id="{A47C92D9-BB14-3EF2-6D51-0804B42EE41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799451" y="2059400"/>
            <a:ext cx="2508114" cy="2339916"/>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Table 3">
            <a:extLst>
              <a:ext uri="{FF2B5EF4-FFF2-40B4-BE49-F238E27FC236}">
                <a16:creationId xmlns:a16="http://schemas.microsoft.com/office/drawing/2014/main" id="{9470DE04-034E-4570-A5D8-6346A6B383F9}"/>
              </a:ext>
            </a:extLst>
          </p:cNvPr>
          <p:cNvGraphicFramePr>
            <a:graphicFrameLocks noGrp="1"/>
          </p:cNvGraphicFramePr>
          <p:nvPr>
            <p:extLst>
              <p:ext uri="{D42A27DB-BD31-4B8C-83A1-F6EECF244321}">
                <p14:modId xmlns:p14="http://schemas.microsoft.com/office/powerpoint/2010/main" val="1942265932"/>
              </p:ext>
            </p:extLst>
          </p:nvPr>
        </p:nvGraphicFramePr>
        <p:xfrm>
          <a:off x="10698161" y="5275248"/>
          <a:ext cx="10411839" cy="6421804"/>
        </p:xfrm>
        <a:graphic>
          <a:graphicData uri="http://schemas.openxmlformats.org/drawingml/2006/table">
            <a:tbl>
              <a:tblPr firstRow="1" firstCol="1" lastRow="1" lastCol="1" bandRow="1" bandCol="1"/>
              <a:tblGrid>
                <a:gridCol w="2702560">
                  <a:extLst>
                    <a:ext uri="{9D8B030D-6E8A-4147-A177-3AD203B41FA5}">
                      <a16:colId xmlns:a16="http://schemas.microsoft.com/office/drawing/2014/main" val="1352617459"/>
                    </a:ext>
                  </a:extLst>
                </a:gridCol>
                <a:gridCol w="1263958">
                  <a:extLst>
                    <a:ext uri="{9D8B030D-6E8A-4147-A177-3AD203B41FA5}">
                      <a16:colId xmlns:a16="http://schemas.microsoft.com/office/drawing/2014/main" val="3245172871"/>
                    </a:ext>
                  </a:extLst>
                </a:gridCol>
                <a:gridCol w="1465189">
                  <a:extLst>
                    <a:ext uri="{9D8B030D-6E8A-4147-A177-3AD203B41FA5}">
                      <a16:colId xmlns:a16="http://schemas.microsoft.com/office/drawing/2014/main" val="1321357079"/>
                    </a:ext>
                  </a:extLst>
                </a:gridCol>
                <a:gridCol w="1245033">
                  <a:extLst>
                    <a:ext uri="{9D8B030D-6E8A-4147-A177-3AD203B41FA5}">
                      <a16:colId xmlns:a16="http://schemas.microsoft.com/office/drawing/2014/main" val="116693498"/>
                    </a:ext>
                  </a:extLst>
                </a:gridCol>
                <a:gridCol w="1245033">
                  <a:extLst>
                    <a:ext uri="{9D8B030D-6E8A-4147-A177-3AD203B41FA5}">
                      <a16:colId xmlns:a16="http://schemas.microsoft.com/office/drawing/2014/main" val="2364302200"/>
                    </a:ext>
                  </a:extLst>
                </a:gridCol>
                <a:gridCol w="1245033">
                  <a:extLst>
                    <a:ext uri="{9D8B030D-6E8A-4147-A177-3AD203B41FA5}">
                      <a16:colId xmlns:a16="http://schemas.microsoft.com/office/drawing/2014/main" val="571724730"/>
                    </a:ext>
                  </a:extLst>
                </a:gridCol>
                <a:gridCol w="1245033">
                  <a:extLst>
                    <a:ext uri="{9D8B030D-6E8A-4147-A177-3AD203B41FA5}">
                      <a16:colId xmlns:a16="http://schemas.microsoft.com/office/drawing/2014/main" val="1254078845"/>
                    </a:ext>
                  </a:extLst>
                </a:gridCol>
              </a:tblGrid>
              <a:tr h="796681">
                <a:tc>
                  <a:txBody>
                    <a:bodyPr/>
                    <a:lstStyle/>
                    <a:p>
                      <a:pPr algn="ctr"/>
                      <a:endParaRPr lang="en-US" sz="3200" dirty="0">
                        <a:solidFill>
                          <a:schemeClr val="bg1"/>
                        </a:solidFill>
                        <a:latin typeface="TH SarabunPSK" panose="020B0500040200020003" pitchFamily="34" charset="-34"/>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gridSpan="3">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All Patients</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gridSpan="3">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Myocardial Infarction patients </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639366490"/>
                  </a:ext>
                </a:extLst>
              </a:tr>
              <a:tr h="796681">
                <a:tc>
                  <a:txBody>
                    <a:bodyPr/>
                    <a:lstStyle/>
                    <a:p>
                      <a:pPr algn="ctr"/>
                      <a:endParaRPr lang="en-US" sz="3200" dirty="0">
                        <a:solidFill>
                          <a:schemeClr val="bg1"/>
                        </a:solidFill>
                        <a:latin typeface="TH SarabunPSK" panose="020B0500040200020003" pitchFamily="34" charset="-34"/>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Recall </a:t>
                      </a: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(Cath)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F 1 Score</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ROC</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Recall </a:t>
                      </a: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(Cath)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F 1 Score</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ROC</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595518576"/>
                  </a:ext>
                </a:extLst>
              </a:tr>
              <a:tr h="1195021">
                <a:tc>
                  <a:txBody>
                    <a:bodyPr/>
                    <a:lstStyle/>
                    <a:p>
                      <a:pPr marL="0" marR="0" indent="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TF – IDF plus Logistic Regression</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rPr>
                        <a:t>0.683</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r>
                        <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rPr>
                        <a:t>0.776</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00653253"/>
                  </a:ext>
                </a:extLst>
              </a:tr>
              <a:tr h="796681">
                <a:tc>
                  <a:txBody>
                    <a:bodyPr/>
                    <a:lstStyle/>
                    <a:p>
                      <a:pPr marL="0" marR="0" algn="ctr">
                        <a:spcBef>
                          <a:spcPts val="0"/>
                        </a:spcBef>
                        <a:spcAft>
                          <a:spcPts val="0"/>
                        </a:spcAft>
                      </a:pPr>
                      <a:r>
                        <a:rPr lang="en-US" sz="3200" kern="100" dirty="0" err="1">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Bio_ClinicalBERT</a:t>
                      </a: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rPr>
                        <a:t>0.517</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r>
                        <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rPr>
                        <a:t>0.658</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20206093"/>
                  </a:ext>
                </a:extLst>
              </a:tr>
              <a:tr h="1991702">
                <a:tc>
                  <a:txBody>
                    <a:bodyPr/>
                    <a:lstStyle/>
                    <a:p>
                      <a:pPr marL="0" marR="0" lvl="0" indent="0" algn="ctr" defTabSz="2139605" rtl="0" eaLnBrk="1" fontAlgn="auto" latinLnBrk="0" hangingPunct="1">
                        <a:lnSpc>
                          <a:spcPct val="100000"/>
                        </a:lnSpc>
                        <a:spcBef>
                          <a:spcPts val="0"/>
                        </a:spcBef>
                        <a:spcAft>
                          <a:spcPts val="0"/>
                        </a:spcAft>
                        <a:buClrTx/>
                        <a:buSzTx/>
                        <a:buFontTx/>
                        <a:buNone/>
                        <a:tabLst/>
                        <a:defRPr/>
                      </a:pPr>
                      <a:r>
                        <a:rPr lang="en-US" sz="3200" kern="100" dirty="0" err="1">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Bio_ClinicalBERT</a:t>
                      </a: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 + Knowledge Graph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rPr>
                        <a:t>0.552</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r>
                        <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rPr>
                        <a:t>0.711</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83728674"/>
                  </a:ext>
                </a:extLst>
              </a:tr>
              <a:tr h="398340">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Multi Agent </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rPr>
                        <a:t>0.834</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67967691"/>
                  </a:ext>
                </a:extLst>
              </a:tr>
            </a:tbl>
          </a:graphicData>
        </a:graphic>
      </p:graphicFrame>
      <p:pic>
        <p:nvPicPr>
          <p:cNvPr id="5" name="Picture 4" descr="A graph of different colored bars&#10;&#10;AI-generated content may be incorrect.">
            <a:extLst>
              <a:ext uri="{FF2B5EF4-FFF2-40B4-BE49-F238E27FC236}">
                <a16:creationId xmlns:a16="http://schemas.microsoft.com/office/drawing/2014/main" id="{658BA87E-7890-7DB7-91E7-8EE82033E63F}"/>
              </a:ext>
            </a:extLst>
          </p:cNvPr>
          <p:cNvPicPr>
            <a:picLocks noChangeAspect="1"/>
          </p:cNvPicPr>
          <p:nvPr/>
        </p:nvPicPr>
        <p:blipFill>
          <a:blip r:embed="rId5">
            <a:extLst>
              <a:ext uri="{28A0092B-C50C-407E-A947-70E740481C1C}">
                <a14:useLocalDpi xmlns:a14="http://schemas.microsoft.com/office/drawing/2010/main" val="0"/>
              </a:ext>
            </a:extLst>
          </a:blip>
          <a:srcRect l="50841" t="-1037"/>
          <a:stretch>
            <a:fillRect/>
          </a:stretch>
        </p:blipFill>
        <p:spPr>
          <a:xfrm>
            <a:off x="10689342" y="11624918"/>
            <a:ext cx="10517339" cy="6836571"/>
          </a:xfrm>
          <a:prstGeom prst="rect">
            <a:avLst/>
          </a:prstGeom>
        </p:spPr>
      </p:pic>
    </p:spTree>
    <p:extLst>
      <p:ext uri="{BB962C8B-B14F-4D97-AF65-F5344CB8AC3E}">
        <p14:creationId xmlns:p14="http://schemas.microsoft.com/office/powerpoint/2010/main" val="16363525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1657</TotalTime>
  <Words>1104</Words>
  <Application>Microsoft Office PowerPoint</Application>
  <PresentationFormat>Custom</PresentationFormat>
  <Paragraphs>82</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Calibri Light</vt:lpstr>
      <vt:lpstr>TH SarabunPSK</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Peerayot Sanposh</dc:creator>
  <cp:lastModifiedBy>Ngwaru Munodawafa</cp:lastModifiedBy>
  <cp:revision>52</cp:revision>
  <dcterms:created xsi:type="dcterms:W3CDTF">2020-03-30T16:23:10Z</dcterms:created>
  <dcterms:modified xsi:type="dcterms:W3CDTF">2025-10-27T09:19:56Z</dcterms:modified>
</cp:coreProperties>
</file>