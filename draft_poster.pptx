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42" autoAdjust="0"/>
    <p:restoredTop sz="94660"/>
  </p:normalViewPr>
  <p:slideViewPr>
    <p:cSldViewPr snapToGrid="0">
      <p:cViewPr>
        <p:scale>
          <a:sx n="66" d="100"/>
          <a:sy n="66" d="100"/>
        </p:scale>
        <p:origin x="1373" y="-81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 Box 138">
            <a:extLst>
              <a:ext uri="{FF2B5EF4-FFF2-40B4-BE49-F238E27FC236}">
                <a16:creationId xmlns:a16="http://schemas.microsoft.com/office/drawing/2014/main" id="{5567DAB8-D21D-4848-AF0E-5BB5E7425CEE}"/>
              </a:ext>
            </a:extLst>
          </p:cNvPr>
          <p:cNvSpPr txBox="1">
            <a:spLocks noChangeArrowheads="1"/>
          </p:cNvSpPr>
          <p:nvPr/>
        </p:nvSpPr>
        <p:spPr bwMode="auto">
          <a:xfrm>
            <a:off x="-3218181" y="-14023157"/>
            <a:ext cx="21396326" cy="1877649"/>
          </a:xfrm>
          <a:prstGeom prst="rect">
            <a:avLst/>
          </a:prstGeom>
          <a:no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US" altLang="en-US" sz="9600" b="1" kern="0" dirty="0">
                <a:solidFill>
                  <a:srgbClr val="FF0000"/>
                </a:solidFill>
                <a:latin typeface="TH SarabunPSK" panose="020B0500040200020003" pitchFamily="34" charset="-34"/>
                <a:cs typeface="TH SarabunPSK" panose="020B0500040200020003" pitchFamily="34" charset="-34"/>
              </a:rPr>
              <a:t> </a:t>
            </a:r>
            <a:r>
              <a:rPr lang="en-US" altLang="en-US" sz="8000" b="1" kern="0" dirty="0">
                <a:solidFill>
                  <a:srgbClr val="6D1537"/>
                </a:solidFill>
                <a:latin typeface="Times New Roman" panose="02020603050405020304" pitchFamily="18" charset="0"/>
                <a:cs typeface="Times New Roman" panose="02020603050405020304" pitchFamily="18" charset="0"/>
              </a:rPr>
              <a:t>ICA SP-CON 2020</a:t>
            </a:r>
          </a:p>
        </p:txBody>
      </p:sp>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1" y="1539095"/>
            <a:ext cx="21396326" cy="4955415"/>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80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a:t>
            </a:r>
            <a:endParaRPr lang="en-US" sz="8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54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94139671"/>
              </p:ext>
            </p:extLst>
          </p:nvPr>
        </p:nvGraphicFramePr>
        <p:xfrm>
          <a:off x="158573" y="6732879"/>
          <a:ext cx="10265587" cy="10756467"/>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70717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00492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 (Cannon CP, 2000). Artificial Intelligence systems have been implemented for automatic detection of ST elevated Myocardial Infarction (STEMI) from ECG (Robert Avram, William F. Fearon, 2024). These platforms have been linked with automatic activation of the Cardiac Catheterization Lab (Robert Avram, William F. Fearon, 2024).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a:t>
                      </a:r>
                      <a:endParaRPr sz="2800" i="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700463570"/>
              </p:ext>
            </p:extLst>
          </p:nvPr>
        </p:nvGraphicFramePr>
        <p:xfrm>
          <a:off x="158572" y="17708302"/>
          <a:ext cx="10265587" cy="3310890"/>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40815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74701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Is it possible to predict which patients need cardiac catheterization using text-based classification methods using information in the patient Electronic Health Record ( HPI, Physical, ECG report, lab results)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2226493172"/>
              </p:ext>
            </p:extLst>
          </p:nvPr>
        </p:nvGraphicFramePr>
        <p:xfrm>
          <a:off x="10698162" y="19363747"/>
          <a:ext cx="10534077" cy="3181295"/>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4511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6174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conclusion section should be included.</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649916616"/>
              </p:ext>
            </p:extLst>
          </p:nvPr>
        </p:nvGraphicFramePr>
        <p:xfrm>
          <a:off x="10698161" y="22783413"/>
          <a:ext cx="10534077" cy="7133112"/>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78946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566663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32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32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32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endParaRPr lang="en-GB"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273818523"/>
              </p:ext>
            </p:extLst>
          </p:nvPr>
        </p:nvGraphicFramePr>
        <p:xfrm>
          <a:off x="274320" y="21386972"/>
          <a:ext cx="10149840" cy="8601810"/>
        </p:xfrm>
        <a:graphic>
          <a:graphicData uri="http://schemas.openxmlformats.org/drawingml/2006/table">
            <a:tbl>
              <a:tblPr firstRow="1" bandRow="1"/>
              <a:tblGrid>
                <a:gridCol w="10149840">
                  <a:extLst>
                    <a:ext uri="{9D8B030D-6E8A-4147-A177-3AD203B41FA5}">
                      <a16:colId xmlns:a16="http://schemas.microsoft.com/office/drawing/2014/main" val="20000"/>
                    </a:ext>
                  </a:extLst>
                </a:gridCol>
              </a:tblGrid>
              <a:tr h="83033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77147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patients with heart conditions. We used a four methods to classify patients that needed cardiac catheterization based on the EHR text. 1. Term Frequency - Inverse Document Frequency (TF-IDF) 2. Baseline BERT Model 3. BERT plus Knowledge graph</a:t>
                      </a:r>
                    </a:p>
                    <a:p>
                      <a:pPr marL="182880">
                        <a:lnSpc>
                          <a:spcPct val="100000"/>
                        </a:lnSpc>
                      </a:pPr>
                      <a:r>
                        <a:rPr lang="en-US" sz="3200" dirty="0">
                          <a:latin typeface="TH SarabunPSK" panose="020B0500040200020003" pitchFamily="34" charset="-34"/>
                          <a:cs typeface="TH SarabunPSK" panose="020B0500040200020003" pitchFamily="34" charset="-34"/>
                        </a:rPr>
                        <a:t>4. LLM plus Knowledge Graph. </a:t>
                      </a: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nSpc>
                          <a:spcPct val="100000"/>
                        </a:lnSpc>
                      </a:pPr>
                      <a:endParaRPr lang="en-US"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2732456321"/>
              </p:ext>
            </p:extLst>
          </p:nvPr>
        </p:nvGraphicFramePr>
        <p:xfrm>
          <a:off x="10698162" y="6732881"/>
          <a:ext cx="10143692" cy="12481094"/>
        </p:xfrm>
        <a:graphic>
          <a:graphicData uri="http://schemas.openxmlformats.org/drawingml/2006/table">
            <a:tbl>
              <a:tblPr firstRow="1" bandRow="1"/>
              <a:tblGrid>
                <a:gridCol w="10143692">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
            <a:ext cx="1665393" cy="15537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30932" y="-1"/>
            <a:ext cx="1665393" cy="155370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3565141533"/>
              </p:ext>
            </p:extLst>
          </p:nvPr>
        </p:nvGraphicFramePr>
        <p:xfrm>
          <a:off x="10926232" y="8603928"/>
          <a:ext cx="8804699" cy="2926080"/>
        </p:xfrm>
        <a:graphic>
          <a:graphicData uri="http://schemas.openxmlformats.org/drawingml/2006/table">
            <a:tbl>
              <a:tblPr firstRow="1" firstCol="1" lastRow="1" lastCol="1" bandRow="1" bandCol="1"/>
              <a:tblGrid>
                <a:gridCol w="2538836">
                  <a:extLst>
                    <a:ext uri="{9D8B030D-6E8A-4147-A177-3AD203B41FA5}">
                      <a16:colId xmlns:a16="http://schemas.microsoft.com/office/drawing/2014/main" val="1352617459"/>
                    </a:ext>
                  </a:extLst>
                </a:gridCol>
                <a:gridCol w="1447255">
                  <a:extLst>
                    <a:ext uri="{9D8B030D-6E8A-4147-A177-3AD203B41FA5}">
                      <a16:colId xmlns:a16="http://schemas.microsoft.com/office/drawing/2014/main" val="2758061288"/>
                    </a:ext>
                  </a:extLst>
                </a:gridCol>
                <a:gridCol w="1832075">
                  <a:extLst>
                    <a:ext uri="{9D8B030D-6E8A-4147-A177-3AD203B41FA5}">
                      <a16:colId xmlns:a16="http://schemas.microsoft.com/office/drawing/2014/main" val="3245172871"/>
                    </a:ext>
                  </a:extLst>
                </a:gridCol>
                <a:gridCol w="1614569">
                  <a:extLst>
                    <a:ext uri="{9D8B030D-6E8A-4147-A177-3AD203B41FA5}">
                      <a16:colId xmlns:a16="http://schemas.microsoft.com/office/drawing/2014/main" val="1321357079"/>
                    </a:ext>
                  </a:extLst>
                </a:gridCol>
                <a:gridCol w="1371964">
                  <a:extLst>
                    <a:ext uri="{9D8B030D-6E8A-4147-A177-3AD203B41FA5}">
                      <a16:colId xmlns:a16="http://schemas.microsoft.com/office/drawing/2014/main" val="116693498"/>
                    </a:ext>
                  </a:extLst>
                </a:gridCol>
              </a:tblGrid>
              <a:tr h="453622">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Precision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453622">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Baseline BERT</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BERT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5" name="Picture 4">
            <a:extLst>
              <a:ext uri="{FF2B5EF4-FFF2-40B4-BE49-F238E27FC236}">
                <a16:creationId xmlns:a16="http://schemas.microsoft.com/office/drawing/2014/main" id="{9601B7CB-6BF7-14CA-389E-B89EB8EACD1A}"/>
              </a:ext>
            </a:extLst>
          </p:cNvPr>
          <p:cNvPicPr>
            <a:picLocks noChangeAspect="1"/>
          </p:cNvPicPr>
          <p:nvPr/>
        </p:nvPicPr>
        <p:blipFill>
          <a:blip r:embed="rId3"/>
          <a:stretch>
            <a:fillRect/>
          </a:stretch>
        </p:blipFill>
        <p:spPr>
          <a:xfrm>
            <a:off x="10966652" y="12023594"/>
            <a:ext cx="8764280" cy="6713673"/>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1411</TotalTime>
  <Words>583</Words>
  <Application>Microsoft Office PowerPoint</Application>
  <PresentationFormat>Custom</PresentationFormat>
  <Paragraphs>60</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TH SarabunPSK</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32</cp:revision>
  <dcterms:created xsi:type="dcterms:W3CDTF">2020-03-30T16:23:10Z</dcterms:created>
  <dcterms:modified xsi:type="dcterms:W3CDTF">2025-10-24T09:33:09Z</dcterms:modified>
</cp:coreProperties>
</file>