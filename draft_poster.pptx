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4660"/>
  </p:normalViewPr>
  <p:slideViewPr>
    <p:cSldViewPr snapToGrid="0">
      <p:cViewPr>
        <p:scale>
          <a:sx n="75" d="100"/>
          <a:sy n="75" d="100"/>
        </p:scale>
        <p:origin x="1440" y="-39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10/24/2025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ext Box 138">
            <a:extLst>
              <a:ext uri="{FF2B5EF4-FFF2-40B4-BE49-F238E27FC236}">
                <a16:creationId xmlns:a16="http://schemas.microsoft.com/office/drawing/2014/main" id="{5567DAB8-D21D-4848-AF0E-5BB5E7425CEE}"/>
              </a:ext>
            </a:extLst>
          </p:cNvPr>
          <p:cNvSpPr txBox="1">
            <a:spLocks noChangeArrowheads="1"/>
          </p:cNvSpPr>
          <p:nvPr/>
        </p:nvSpPr>
        <p:spPr bwMode="auto">
          <a:xfrm>
            <a:off x="-3218181" y="-14023157"/>
            <a:ext cx="21396326" cy="1877649"/>
          </a:xfrm>
          <a:prstGeom prst="rect">
            <a:avLst/>
          </a:prstGeom>
          <a:no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US" altLang="en-US" sz="9600" b="1" kern="0" dirty="0">
                <a:solidFill>
                  <a:srgbClr val="FF0000"/>
                </a:solidFill>
                <a:latin typeface="TH SarabunPSK" panose="020B0500040200020003" pitchFamily="34" charset="-34"/>
                <a:cs typeface="TH SarabunPSK" panose="020B0500040200020003" pitchFamily="34" charset="-34"/>
              </a:rPr>
              <a:t> </a:t>
            </a:r>
            <a:r>
              <a:rPr lang="en-US" altLang="en-US" sz="8000" b="1" kern="0" dirty="0">
                <a:solidFill>
                  <a:srgbClr val="6D1537"/>
                </a:solidFill>
                <a:latin typeface="Times New Roman" panose="02020603050405020304" pitchFamily="18" charset="0"/>
                <a:cs typeface="Times New Roman" panose="02020603050405020304" pitchFamily="18" charset="0"/>
              </a:rPr>
              <a:t>ICA SP-CON 2020</a:t>
            </a:r>
          </a:p>
        </p:txBody>
      </p:sp>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1" y="1539095"/>
            <a:ext cx="21396326" cy="4469128"/>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72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 using Medical Text Classification</a:t>
            </a:r>
            <a:endParaRPr lang="en-US" sz="72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48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1430969461"/>
              </p:ext>
            </p:extLst>
          </p:nvPr>
        </p:nvGraphicFramePr>
        <p:xfrm>
          <a:off x="0" y="6164538"/>
          <a:ext cx="10424160" cy="11142769"/>
        </p:xfrm>
        <a:graphic>
          <a:graphicData uri="http://schemas.openxmlformats.org/drawingml/2006/table">
            <a:tbl>
              <a:tblPr firstRow="1" bandRow="1"/>
              <a:tblGrid>
                <a:gridCol w="10424160">
                  <a:extLst>
                    <a:ext uri="{9D8B030D-6E8A-4147-A177-3AD203B41FA5}">
                      <a16:colId xmlns:a16="http://schemas.microsoft.com/office/drawing/2014/main" val="20000"/>
                    </a:ext>
                  </a:extLst>
                </a:gridCol>
              </a:tblGrid>
              <a:tr h="70717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00492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 Ischaemic Heart Disease presents in acute cases as acute coronary syndromes (ACS). In acute coronary syndromes there is  need to reduce the time from the patient getting through the hospital door to the time of definitive treatment with balloon catheterization</a:t>
                      </a:r>
                      <a:r>
                        <a:rPr lang="en-GB" sz="3200" i="0" baseline="30000" dirty="0">
                          <a:solidFill>
                            <a:srgbClr val="0070C0"/>
                          </a:solidFill>
                          <a:latin typeface="TH SarabunPSK" panose="020B0500040200020003" pitchFamily="34" charset="-34"/>
                          <a:cs typeface="TH SarabunPSK" panose="020B0500040200020003" pitchFamily="34" charset="-34"/>
                        </a:rPr>
                        <a:t>1</a:t>
                      </a:r>
                      <a:r>
                        <a:rPr lang="en-GB" sz="3200" i="0" dirty="0">
                          <a:latin typeface="TH SarabunPSK" panose="020B0500040200020003" pitchFamily="34" charset="-34"/>
                          <a:cs typeface="TH SarabunPSK" panose="020B0500040200020003" pitchFamily="34" charset="-34"/>
                        </a:rPr>
                        <a:t>. Artificial Intelligence systems have been implemented for automatic detection of ST elevated Myocardial Infarction (STEMI) from ECG</a:t>
                      </a:r>
                      <a:r>
                        <a:rPr lang="en-GB" sz="3200" i="0" dirty="0">
                          <a:solidFill>
                            <a:srgbClr val="0070C0"/>
                          </a:solidFill>
                          <a:latin typeface="TH SarabunPSK" panose="020B0500040200020003" pitchFamily="34" charset="-34"/>
                          <a:cs typeface="TH SarabunPSK" panose="020B0500040200020003" pitchFamily="34" charset="-34"/>
                        </a:rPr>
                        <a:t> </a:t>
                      </a:r>
                      <a:r>
                        <a:rPr lang="en-GB" sz="3200" i="0" baseline="30000" dirty="0">
                          <a:solidFill>
                            <a:srgbClr val="0070C0"/>
                          </a:solidFill>
                          <a:latin typeface="TH SarabunPSK" panose="020B0500040200020003" pitchFamily="34" charset="-34"/>
                          <a:cs typeface="TH SarabunPSK" panose="020B0500040200020003" pitchFamily="34" charset="-34"/>
                        </a:rPr>
                        <a:t>2</a:t>
                      </a:r>
                      <a:r>
                        <a:rPr lang="en-GB" sz="3200" i="0" baseline="0" dirty="0">
                          <a:latin typeface="TH SarabunPSK" panose="020B0500040200020003" pitchFamily="34" charset="-34"/>
                          <a:cs typeface="TH SarabunPSK" panose="020B0500040200020003" pitchFamily="34" charset="-34"/>
                        </a:rPr>
                        <a:t>. </a:t>
                      </a:r>
                      <a:r>
                        <a:rPr lang="en-GB" sz="3200" i="0" dirty="0">
                          <a:latin typeface="TH SarabunPSK" panose="020B0500040200020003" pitchFamily="34" charset="-34"/>
                          <a:cs typeface="TH SarabunPSK" panose="020B0500040200020003" pitchFamily="34" charset="-34"/>
                        </a:rPr>
                        <a:t>These platforms have been linked with automatic activation of the Cardiac Catheterization Lab </a:t>
                      </a:r>
                      <a:r>
                        <a:rPr lang="en-GB" sz="3200" i="0" baseline="30000" dirty="0">
                          <a:solidFill>
                            <a:srgbClr val="0070C0"/>
                          </a:solidFill>
                          <a:latin typeface="TH SarabunPSK" panose="020B0500040200020003" pitchFamily="34" charset="-34"/>
                          <a:cs typeface="TH SarabunPSK" panose="020B0500040200020003" pitchFamily="34" charset="-34"/>
                        </a:rPr>
                        <a:t>2</a:t>
                      </a:r>
                      <a:r>
                        <a:rPr lang="en-GB" sz="3200" i="0" dirty="0">
                          <a:latin typeface="TH SarabunPSK" panose="020B0500040200020003" pitchFamily="34" charset="-34"/>
                          <a:cs typeface="TH SarabunPSK" panose="020B0500040200020003" pitchFamily="34" charset="-34"/>
                        </a:rPr>
                        <a:t>. This has been demonstrated to reduce the door to balloon time.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As soon as the decision is made the Team that works in the catheterisation lab must be notified to prepare for the patient. Our research looks at using a LLM to use text in the Electronic Health Record (EHR) which includes the History of Presenting illness (HPI), Physical Examination, ECG report and lab results (Troponin results) to automatically make the decision and send a notification to the catheterisation lab. Essentially this is two class medical  classification.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In previous work ….</a:t>
                      </a:r>
                      <a:endParaRPr sz="2800" i="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255867981"/>
              </p:ext>
            </p:extLst>
          </p:nvPr>
        </p:nvGraphicFramePr>
        <p:xfrm>
          <a:off x="42826" y="17708302"/>
          <a:ext cx="10381334" cy="4469130"/>
        </p:xfrm>
        <a:graphic>
          <a:graphicData uri="http://schemas.openxmlformats.org/drawingml/2006/table">
            <a:tbl>
              <a:tblPr firstRow="1" bandRow="1"/>
              <a:tblGrid>
                <a:gridCol w="10381334">
                  <a:extLst>
                    <a:ext uri="{9D8B030D-6E8A-4147-A177-3AD203B41FA5}">
                      <a16:colId xmlns:a16="http://schemas.microsoft.com/office/drawing/2014/main" val="20000"/>
                    </a:ext>
                  </a:extLst>
                </a:gridCol>
              </a:tblGrid>
              <a:tr h="40815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274701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 Can transformer based models predict which patients need cardiac catheterization using text-based classification methods using information in the patient Electronic Health Record ( HPI, Physical, ECG report, lab results) for patients with possible acute coronary syndromes. </a:t>
                      </a:r>
                    </a:p>
                    <a:p>
                      <a:pPr marL="182880">
                        <a:lnSpc>
                          <a:spcPct val="100000"/>
                        </a:lnSpc>
                      </a:pPr>
                      <a:endParaRPr lang="en-US" sz="3200" b="1" dirty="0">
                        <a:solidFill>
                          <a:schemeClr val="tx1"/>
                        </a:solidFill>
                        <a:latin typeface="TH SarabunPSK" panose="020B0500040200020003" pitchFamily="34" charset="-34"/>
                        <a:cs typeface="TH SarabunPSK" panose="020B0500040200020003" pitchFamily="34" charset="-34"/>
                      </a:endParaRPr>
                    </a:p>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Do knowledge graphs and Multi Agent Systems improve performance of transformer classification for cardiac catheterization need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2803357915"/>
              </p:ext>
            </p:extLst>
          </p:nvPr>
        </p:nvGraphicFramePr>
        <p:xfrm>
          <a:off x="10698162" y="19363748"/>
          <a:ext cx="10534077" cy="1907167"/>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28938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343287">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conclusion section should be included.</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3550127033"/>
              </p:ext>
            </p:extLst>
          </p:nvPr>
        </p:nvGraphicFramePr>
        <p:xfrm>
          <a:off x="10698162" y="21386972"/>
          <a:ext cx="10534077" cy="7620792"/>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78946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566663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3200" dirty="0">
                          <a:latin typeface="TH SarabunPSK" panose="020B0500040200020003" pitchFamily="34" charset="-34"/>
                          <a:cs typeface="TH SarabunPSK" panose="020B0500040200020003" pitchFamily="34" charset="-34"/>
                        </a:rPr>
                        <a:t>1.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3200" dirty="0">
                          <a:latin typeface="TH SarabunPSK" panose="020B0500040200020003" pitchFamily="34" charset="-34"/>
                          <a:cs typeface="TH SarabunPSK" panose="020B0500040200020003" pitchFamily="34" charset="-34"/>
                        </a:rPr>
                        <a:t>2. Robert Avram, William F. Fearon. (2024, 7 1). NEJM AI, 1(7). doi:10.1056/AIe2400472</a:t>
                      </a:r>
                    </a:p>
                    <a:p>
                      <a:pPr marL="182880">
                        <a:lnSpc>
                          <a:spcPct val="100000"/>
                        </a:lnSpc>
                      </a:pPr>
                      <a:r>
                        <a:rPr lang="en-GB" sz="3200" dirty="0">
                          <a:latin typeface="TH SarabunPSK" panose="020B0500040200020003" pitchFamily="34" charset="-34"/>
                          <a:cs typeface="TH SarabunPSK" panose="020B0500040200020003" pitchFamily="34" charset="-34"/>
                        </a:rPr>
                        <a:t>3.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r>
                        <a:rPr lang="en-GB" sz="3200" dirty="0">
                          <a:latin typeface="TH SarabunPSK" panose="020B0500040200020003" pitchFamily="34" charset="-34"/>
                          <a:cs typeface="TH SarabunPSK" panose="020B0500040200020003" pitchFamily="34" charset="-34"/>
                        </a:rPr>
                        <a:t>4. Maarten Falter, Dries </a:t>
                      </a:r>
                      <a:r>
                        <a:rPr lang="en-GB" sz="3200" dirty="0" err="1">
                          <a:latin typeface="TH SarabunPSK" panose="020B0500040200020003" pitchFamily="34" charset="-34"/>
                          <a:cs typeface="TH SarabunPSK" panose="020B0500040200020003" pitchFamily="34" charset="-34"/>
                        </a:rPr>
                        <a:t>Godderis</a:t>
                      </a:r>
                      <a:r>
                        <a:rPr lang="en-GB" sz="3200" dirty="0">
                          <a:latin typeface="TH SarabunPSK" panose="020B0500040200020003" pitchFamily="34" charset="-34"/>
                          <a:cs typeface="TH SarabunPSK" panose="020B0500040200020003" pitchFamily="34" charset="-34"/>
                        </a:rPr>
                        <a:t>, Martijn </a:t>
                      </a:r>
                      <a:r>
                        <a:rPr lang="en-GB" sz="3200" dirty="0" err="1">
                          <a:latin typeface="TH SarabunPSK" panose="020B0500040200020003" pitchFamily="34" charset="-34"/>
                          <a:cs typeface="TH SarabunPSK" panose="020B0500040200020003" pitchFamily="34" charset="-34"/>
                        </a:rPr>
                        <a:t>Scherrenberg</a:t>
                      </a:r>
                      <a:r>
                        <a:rPr lang="en-GB" sz="3200" dirty="0">
                          <a:latin typeface="TH SarabunPSK" panose="020B0500040200020003" pitchFamily="34" charset="-34"/>
                          <a:cs typeface="TH SarabunPSK" panose="020B0500040200020003" pitchFamily="34" charset="-34"/>
                        </a:rPr>
                        <a:t>, et al, Using natural language processing for automated classification of disease and to identify misclassified ICD codes in cardiac disease, European Heart Journal - Digital Health, Volume 5, Issue 3, May 2024, Pages 229–234, https://doi.org/10.1093/ehjdh/ztae008</a:t>
                      </a:r>
                      <a:endParaRPr lang="en-ZA" sz="32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1602373120"/>
              </p:ext>
            </p:extLst>
          </p:nvPr>
        </p:nvGraphicFramePr>
        <p:xfrm>
          <a:off x="42826" y="22270892"/>
          <a:ext cx="10424160" cy="7996383"/>
        </p:xfrm>
        <a:graphic>
          <a:graphicData uri="http://schemas.openxmlformats.org/drawingml/2006/table">
            <a:tbl>
              <a:tblPr firstRow="1" bandRow="1"/>
              <a:tblGrid>
                <a:gridCol w="10424160">
                  <a:extLst>
                    <a:ext uri="{9D8B030D-6E8A-4147-A177-3AD203B41FA5}">
                      <a16:colId xmlns:a16="http://schemas.microsoft.com/office/drawing/2014/main" val="20000"/>
                    </a:ext>
                  </a:extLst>
                </a:gridCol>
              </a:tblGrid>
              <a:tr h="7718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22449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4761 patients with heart conditions. Data cleaning included removing patients with possible data leak in the history. We used a four methods to classify patients that needed cardiac catheterization based on the EHR text. 1. Term Frequency - Inverse Document Frequency (TF-IDF) with Logistic </a:t>
                      </a:r>
                      <a:r>
                        <a:rPr lang="en-US" sz="3200" dirty="0" err="1">
                          <a:latin typeface="TH SarabunPSK" panose="020B0500040200020003" pitchFamily="34" charset="-34"/>
                          <a:cs typeface="TH SarabunPSK" panose="020B0500040200020003" pitchFamily="34" charset="-34"/>
                        </a:rPr>
                        <a:t>regresssion</a:t>
                      </a:r>
                      <a:r>
                        <a:rPr lang="en-US" sz="3200" dirty="0">
                          <a:latin typeface="TH SarabunPSK" panose="020B0500040200020003" pitchFamily="34" charset="-34"/>
                          <a:cs typeface="TH SarabunPSK" panose="020B0500040200020003" pitchFamily="34" charset="-34"/>
                        </a:rPr>
                        <a:t> 2. Baseline </a:t>
                      </a: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3. BERT plus Knowledge graph</a:t>
                      </a:r>
                    </a:p>
                    <a:p>
                      <a:pPr marL="182880">
                        <a:lnSpc>
                          <a:spcPct val="100000"/>
                        </a:lnSpc>
                      </a:pPr>
                      <a:r>
                        <a:rPr lang="en-US" sz="3200" dirty="0">
                          <a:latin typeface="TH SarabunPSK" panose="020B0500040200020003" pitchFamily="34" charset="-34"/>
                          <a:cs typeface="TH SarabunPSK" panose="020B0500040200020003" pitchFamily="34" charset="-34"/>
                        </a:rPr>
                        <a:t>4. LLM plus Knowledge Graph. </a:t>
                      </a: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nSpc>
                          <a:spcPct val="100000"/>
                        </a:lnSpc>
                      </a:pPr>
                      <a:endParaRPr lang="en-US" sz="32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3740915891"/>
              </p:ext>
            </p:extLst>
          </p:nvPr>
        </p:nvGraphicFramePr>
        <p:xfrm>
          <a:off x="10698162" y="6175989"/>
          <a:ext cx="10143692" cy="12481094"/>
        </p:xfrm>
        <a:graphic>
          <a:graphicData uri="http://schemas.openxmlformats.org/drawingml/2006/table">
            <a:tbl>
              <a:tblPr firstRow="1" bandRow="1"/>
              <a:tblGrid>
                <a:gridCol w="10143692">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
            <a:ext cx="1665393" cy="15537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30932" y="-1"/>
            <a:ext cx="1665393" cy="1553709"/>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3273931509"/>
              </p:ext>
            </p:extLst>
          </p:nvPr>
        </p:nvGraphicFramePr>
        <p:xfrm>
          <a:off x="10926233" y="7082792"/>
          <a:ext cx="8804699" cy="2926080"/>
        </p:xfrm>
        <a:graphic>
          <a:graphicData uri="http://schemas.openxmlformats.org/drawingml/2006/table">
            <a:tbl>
              <a:tblPr firstRow="1" firstCol="1" lastRow="1" lastCol="1" bandRow="1" bandCol="1"/>
              <a:tblGrid>
                <a:gridCol w="2538836">
                  <a:extLst>
                    <a:ext uri="{9D8B030D-6E8A-4147-A177-3AD203B41FA5}">
                      <a16:colId xmlns:a16="http://schemas.microsoft.com/office/drawing/2014/main" val="1352617459"/>
                    </a:ext>
                  </a:extLst>
                </a:gridCol>
                <a:gridCol w="1447255">
                  <a:extLst>
                    <a:ext uri="{9D8B030D-6E8A-4147-A177-3AD203B41FA5}">
                      <a16:colId xmlns:a16="http://schemas.microsoft.com/office/drawing/2014/main" val="2758061288"/>
                    </a:ext>
                  </a:extLst>
                </a:gridCol>
                <a:gridCol w="1832075">
                  <a:extLst>
                    <a:ext uri="{9D8B030D-6E8A-4147-A177-3AD203B41FA5}">
                      <a16:colId xmlns:a16="http://schemas.microsoft.com/office/drawing/2014/main" val="3245172871"/>
                    </a:ext>
                  </a:extLst>
                </a:gridCol>
                <a:gridCol w="1614569">
                  <a:extLst>
                    <a:ext uri="{9D8B030D-6E8A-4147-A177-3AD203B41FA5}">
                      <a16:colId xmlns:a16="http://schemas.microsoft.com/office/drawing/2014/main" val="1321357079"/>
                    </a:ext>
                  </a:extLst>
                </a:gridCol>
                <a:gridCol w="1371964">
                  <a:extLst>
                    <a:ext uri="{9D8B030D-6E8A-4147-A177-3AD203B41FA5}">
                      <a16:colId xmlns:a16="http://schemas.microsoft.com/office/drawing/2014/main" val="116693498"/>
                    </a:ext>
                  </a:extLst>
                </a:gridCol>
              </a:tblGrid>
              <a:tr h="453622">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Precision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453622">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indent="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Baseline BERT</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BERT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6" name="Picture 5" descr="A graph of a number of cases&#10;&#10;AI-generated content may be incorrect.">
            <a:extLst>
              <a:ext uri="{FF2B5EF4-FFF2-40B4-BE49-F238E27FC236}">
                <a16:creationId xmlns:a16="http://schemas.microsoft.com/office/drawing/2014/main" id="{2C8C4FA9-43F5-AF9D-CFDC-FA2E1A58A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98161" y="11934995"/>
            <a:ext cx="10143693" cy="7190381"/>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1519</TotalTime>
  <Words>682</Words>
  <Application>Microsoft Office PowerPoint</Application>
  <PresentationFormat>Custom</PresentationFormat>
  <Paragraphs>63</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Calibri Light</vt:lpstr>
      <vt:lpstr>TH SarabunPSK</vt:lpstr>
      <vt:lpstr>Times New Roman</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35</cp:revision>
  <dcterms:created xsi:type="dcterms:W3CDTF">2020-03-30T16:23:10Z</dcterms:created>
  <dcterms:modified xsi:type="dcterms:W3CDTF">2025-10-24T12:05:28Z</dcterms:modified>
</cp:coreProperties>
</file>